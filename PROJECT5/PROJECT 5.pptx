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Hammersmith One" charset="1" panose="02010703030501060504"/>
      <p:regular r:id="rId12"/>
    </p:embeddedFont>
    <p:embeddedFont>
      <p:font typeface="Arima Madurai" charset="1" panose="0000050000000000000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17118"/>
            <a:ext cx="8757808" cy="10504118"/>
          </a:xfrm>
          <a:custGeom>
            <a:avLst/>
            <a:gdLst/>
            <a:ahLst/>
            <a:cxnLst/>
            <a:rect r="r" b="b" t="t" l="l"/>
            <a:pathLst>
              <a:path h="10504118" w="8757808">
                <a:moveTo>
                  <a:pt x="0" y="0"/>
                </a:moveTo>
                <a:lnTo>
                  <a:pt x="8757808" y="0"/>
                </a:lnTo>
                <a:lnTo>
                  <a:pt x="8757808" y="10504118"/>
                </a:lnTo>
                <a:lnTo>
                  <a:pt x="0" y="105041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155678" y="-217118"/>
            <a:ext cx="10132322" cy="12152710"/>
          </a:xfrm>
          <a:custGeom>
            <a:avLst/>
            <a:gdLst/>
            <a:ahLst/>
            <a:cxnLst/>
            <a:rect r="r" b="b" t="t" l="l"/>
            <a:pathLst>
              <a:path h="12152710" w="10132322">
                <a:moveTo>
                  <a:pt x="0" y="0"/>
                </a:moveTo>
                <a:lnTo>
                  <a:pt x="10132322" y="0"/>
                </a:lnTo>
                <a:lnTo>
                  <a:pt x="10132322" y="12152710"/>
                </a:lnTo>
                <a:lnTo>
                  <a:pt x="0" y="121527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83567" y="9559863"/>
            <a:ext cx="18571567" cy="951793"/>
          </a:xfrm>
          <a:custGeom>
            <a:avLst/>
            <a:gdLst/>
            <a:ahLst/>
            <a:cxnLst/>
            <a:rect r="r" b="b" t="t" l="l"/>
            <a:pathLst>
              <a:path h="951793" w="18571567">
                <a:moveTo>
                  <a:pt x="0" y="0"/>
                </a:moveTo>
                <a:lnTo>
                  <a:pt x="18571567" y="0"/>
                </a:lnTo>
                <a:lnTo>
                  <a:pt x="18571567" y="951793"/>
                </a:lnTo>
                <a:lnTo>
                  <a:pt x="0" y="9517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-141784" y="-217118"/>
            <a:ext cx="18571567" cy="951793"/>
          </a:xfrm>
          <a:custGeom>
            <a:avLst/>
            <a:gdLst/>
            <a:ahLst/>
            <a:cxnLst/>
            <a:rect r="r" b="b" t="t" l="l"/>
            <a:pathLst>
              <a:path h="951793" w="18571567">
                <a:moveTo>
                  <a:pt x="0" y="951793"/>
                </a:moveTo>
                <a:lnTo>
                  <a:pt x="18571568" y="951793"/>
                </a:lnTo>
                <a:lnTo>
                  <a:pt x="18571568" y="0"/>
                </a:lnTo>
                <a:lnTo>
                  <a:pt x="0" y="0"/>
                </a:lnTo>
                <a:lnTo>
                  <a:pt x="0" y="951793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4861795" y="3164988"/>
            <a:ext cx="11615176" cy="3964562"/>
            <a:chOff x="0" y="0"/>
            <a:chExt cx="3059141" cy="10441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59141" cy="1044164"/>
            </a:xfrm>
            <a:custGeom>
              <a:avLst/>
              <a:gdLst/>
              <a:ahLst/>
              <a:cxnLst/>
              <a:rect r="r" b="b" t="t" l="l"/>
              <a:pathLst>
                <a:path h="1044164" w="3059141">
                  <a:moveTo>
                    <a:pt x="33993" y="0"/>
                  </a:moveTo>
                  <a:lnTo>
                    <a:pt x="3025148" y="0"/>
                  </a:lnTo>
                  <a:cubicBezTo>
                    <a:pt x="3043922" y="0"/>
                    <a:pt x="3059141" y="15219"/>
                    <a:pt x="3059141" y="33993"/>
                  </a:cubicBezTo>
                  <a:lnTo>
                    <a:pt x="3059141" y="1010171"/>
                  </a:lnTo>
                  <a:cubicBezTo>
                    <a:pt x="3059141" y="1028945"/>
                    <a:pt x="3043922" y="1044164"/>
                    <a:pt x="3025148" y="1044164"/>
                  </a:cubicBezTo>
                  <a:lnTo>
                    <a:pt x="33993" y="1044164"/>
                  </a:lnTo>
                  <a:cubicBezTo>
                    <a:pt x="15219" y="1044164"/>
                    <a:pt x="0" y="1028945"/>
                    <a:pt x="0" y="1010171"/>
                  </a:cubicBezTo>
                  <a:lnTo>
                    <a:pt x="0" y="33993"/>
                  </a:lnTo>
                  <a:cubicBezTo>
                    <a:pt x="0" y="15219"/>
                    <a:pt x="15219" y="0"/>
                    <a:pt x="33993" y="0"/>
                  </a:cubicBezTo>
                  <a:close/>
                </a:path>
              </a:pathLst>
            </a:custGeom>
            <a:solidFill>
              <a:srgbClr val="F7FEFF"/>
            </a:solidFill>
            <a:ln w="38100" cap="rnd">
              <a:solidFill>
                <a:srgbClr val="3D4B32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059141" cy="10822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482317" y="1503742"/>
            <a:ext cx="7148107" cy="7148107"/>
            <a:chOff x="0" y="0"/>
            <a:chExt cx="14840029" cy="1484002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solidFill>
              <a:srgbClr val="3D4B32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5"/>
              <a:stretch>
                <a:fillRect l="-24572" t="0" r="-24572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3963261" y="6726920"/>
            <a:ext cx="2391498" cy="805259"/>
            <a:chOff x="0" y="0"/>
            <a:chExt cx="1417365" cy="47725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17365" cy="477251"/>
            </a:xfrm>
            <a:custGeom>
              <a:avLst/>
              <a:gdLst/>
              <a:ahLst/>
              <a:cxnLst/>
              <a:rect r="r" b="b" t="t" l="l"/>
              <a:pathLst>
                <a:path h="477251" w="1417365">
                  <a:moveTo>
                    <a:pt x="1214165" y="0"/>
                  </a:moveTo>
                  <a:cubicBezTo>
                    <a:pt x="1326389" y="0"/>
                    <a:pt x="1417365" y="106836"/>
                    <a:pt x="1417365" y="238626"/>
                  </a:cubicBezTo>
                  <a:cubicBezTo>
                    <a:pt x="1417365" y="370415"/>
                    <a:pt x="1326389" y="477251"/>
                    <a:pt x="1214165" y="477251"/>
                  </a:cubicBezTo>
                  <a:lnTo>
                    <a:pt x="203200" y="477251"/>
                  </a:lnTo>
                  <a:cubicBezTo>
                    <a:pt x="90976" y="477251"/>
                    <a:pt x="0" y="370415"/>
                    <a:pt x="0" y="238626"/>
                  </a:cubicBezTo>
                  <a:cubicBezTo>
                    <a:pt x="0" y="10683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D4B32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417365" cy="5153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211760" y="7006657"/>
            <a:ext cx="245786" cy="245786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4542089" y="7006657"/>
            <a:ext cx="245786" cy="245786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4872419" y="7006657"/>
            <a:ext cx="245786" cy="245786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5202749" y="7006657"/>
            <a:ext cx="245786" cy="245786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5533078" y="7006657"/>
            <a:ext cx="245786" cy="245786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5863408" y="7006657"/>
            <a:ext cx="245786" cy="245786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562072" y="6681523"/>
            <a:ext cx="850656" cy="850656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D4B32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7950918" y="3352393"/>
            <a:ext cx="8403841" cy="2867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0"/>
              </a:lnSpc>
            </a:pPr>
            <a:r>
              <a:rPr lang="en-US" sz="4114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SMART RECOMMENDATION SYSTEM</a:t>
            </a:r>
          </a:p>
          <a:p>
            <a:pPr algn="l">
              <a:lnSpc>
                <a:spcPts val="5760"/>
              </a:lnSpc>
            </a:pPr>
            <a:r>
              <a:rPr lang="en-US" sz="4114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AI/ML INTERNSHIP PROJECT 5</a:t>
            </a:r>
          </a:p>
          <a:p>
            <a:pPr algn="l">
              <a:lnSpc>
                <a:spcPts val="5760"/>
              </a:lnSpc>
            </a:pPr>
          </a:p>
          <a:p>
            <a:pPr algn="l">
              <a:lnSpc>
                <a:spcPts val="5760"/>
              </a:lnSpc>
            </a:pPr>
          </a:p>
        </p:txBody>
      </p:sp>
      <p:sp>
        <p:nvSpPr>
          <p:cNvPr name="TextBox 38" id="38"/>
          <p:cNvSpPr txBox="true"/>
          <p:nvPr/>
        </p:nvSpPr>
        <p:spPr>
          <a:xfrm rot="0">
            <a:off x="7950918" y="4992071"/>
            <a:ext cx="7786194" cy="1526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46"/>
              </a:lnSpc>
            </a:pPr>
            <a:r>
              <a:rPr lang="en-US" sz="4532">
                <a:solidFill>
                  <a:srgbClr val="000000"/>
                </a:solidFill>
                <a:latin typeface="Arima Madurai"/>
                <a:ea typeface="Arima Madurai"/>
                <a:cs typeface="Arima Madurai"/>
                <a:sym typeface="Arima Madurai"/>
              </a:rPr>
              <a:t>Submitted by:  </a:t>
            </a:r>
            <a:r>
              <a:rPr lang="en-US" sz="4532">
                <a:solidFill>
                  <a:srgbClr val="000000"/>
                </a:solidFill>
                <a:latin typeface="Arima Madurai"/>
                <a:ea typeface="Arima Madurai"/>
                <a:cs typeface="Arima Madurai"/>
                <a:sym typeface="Arima Madurai"/>
              </a:rPr>
              <a:t>Anisha Basu</a:t>
            </a:r>
          </a:p>
          <a:p>
            <a:pPr algn="l">
              <a:lnSpc>
                <a:spcPts val="5926"/>
              </a:lnSpc>
            </a:pPr>
            <a:r>
              <a:rPr lang="en-US" sz="4232">
                <a:solidFill>
                  <a:srgbClr val="000000"/>
                </a:solidFill>
                <a:latin typeface="Arima Madurai"/>
                <a:ea typeface="Arima Madurai"/>
                <a:cs typeface="Arima Madurai"/>
                <a:sym typeface="Arima Madurai"/>
              </a:rPr>
              <a:t>F</a:t>
            </a:r>
            <a:r>
              <a:rPr lang="en-US" sz="4232">
                <a:solidFill>
                  <a:srgbClr val="000000"/>
                </a:solidFill>
                <a:latin typeface="Arima Madurai"/>
                <a:ea typeface="Arima Madurai"/>
                <a:cs typeface="Arima Madurai"/>
                <a:sym typeface="Arima Madurai"/>
              </a:rPr>
              <a:t>or: CODEVEDX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603372" y="2739660"/>
            <a:ext cx="850656" cy="850656"/>
            <a:chOff x="0" y="0"/>
            <a:chExt cx="812800" cy="8128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D4B32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17118"/>
            <a:ext cx="8757808" cy="10504118"/>
          </a:xfrm>
          <a:custGeom>
            <a:avLst/>
            <a:gdLst/>
            <a:ahLst/>
            <a:cxnLst/>
            <a:rect r="r" b="b" t="t" l="l"/>
            <a:pathLst>
              <a:path h="10504118" w="8757808">
                <a:moveTo>
                  <a:pt x="0" y="0"/>
                </a:moveTo>
                <a:lnTo>
                  <a:pt x="8757808" y="0"/>
                </a:lnTo>
                <a:lnTo>
                  <a:pt x="8757808" y="10504118"/>
                </a:lnTo>
                <a:lnTo>
                  <a:pt x="0" y="105041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155678" y="-217118"/>
            <a:ext cx="10132322" cy="12152710"/>
          </a:xfrm>
          <a:custGeom>
            <a:avLst/>
            <a:gdLst/>
            <a:ahLst/>
            <a:cxnLst/>
            <a:rect r="r" b="b" t="t" l="l"/>
            <a:pathLst>
              <a:path h="12152710" w="10132322">
                <a:moveTo>
                  <a:pt x="0" y="0"/>
                </a:moveTo>
                <a:lnTo>
                  <a:pt x="10132322" y="0"/>
                </a:lnTo>
                <a:lnTo>
                  <a:pt x="10132322" y="12152710"/>
                </a:lnTo>
                <a:lnTo>
                  <a:pt x="0" y="121527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83567" y="9559863"/>
            <a:ext cx="18571567" cy="951793"/>
          </a:xfrm>
          <a:custGeom>
            <a:avLst/>
            <a:gdLst/>
            <a:ahLst/>
            <a:cxnLst/>
            <a:rect r="r" b="b" t="t" l="l"/>
            <a:pathLst>
              <a:path h="951793" w="18571567">
                <a:moveTo>
                  <a:pt x="0" y="0"/>
                </a:moveTo>
                <a:lnTo>
                  <a:pt x="18571567" y="0"/>
                </a:lnTo>
                <a:lnTo>
                  <a:pt x="18571567" y="951793"/>
                </a:lnTo>
                <a:lnTo>
                  <a:pt x="0" y="9517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-141784" y="-217118"/>
            <a:ext cx="18571567" cy="951793"/>
          </a:xfrm>
          <a:custGeom>
            <a:avLst/>
            <a:gdLst/>
            <a:ahLst/>
            <a:cxnLst/>
            <a:rect r="r" b="b" t="t" l="l"/>
            <a:pathLst>
              <a:path h="951793" w="18571567">
                <a:moveTo>
                  <a:pt x="0" y="951793"/>
                </a:moveTo>
                <a:lnTo>
                  <a:pt x="18571568" y="951793"/>
                </a:lnTo>
                <a:lnTo>
                  <a:pt x="18571568" y="0"/>
                </a:lnTo>
                <a:lnTo>
                  <a:pt x="0" y="0"/>
                </a:lnTo>
                <a:lnTo>
                  <a:pt x="0" y="951793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13050" y="9191629"/>
            <a:ext cx="850656" cy="85065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D4B3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450394" y="9198154"/>
            <a:ext cx="837606" cy="837606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D4B3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437344" y="315872"/>
            <a:ext cx="850656" cy="850656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D4B3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12278" y="581093"/>
            <a:ext cx="6739872" cy="1170869"/>
            <a:chOff x="0" y="0"/>
            <a:chExt cx="8986496" cy="1561159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894829" y="0"/>
              <a:ext cx="8091667" cy="1561159"/>
              <a:chOff x="0" y="0"/>
              <a:chExt cx="1443795" cy="278557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443795" cy="278557"/>
              </a:xfrm>
              <a:custGeom>
                <a:avLst/>
                <a:gdLst/>
                <a:ahLst/>
                <a:cxnLst/>
                <a:rect r="r" b="b" t="t" l="l"/>
                <a:pathLst>
                  <a:path h="278557" w="1443795">
                    <a:moveTo>
                      <a:pt x="72026" y="0"/>
                    </a:moveTo>
                    <a:lnTo>
                      <a:pt x="1371769" y="0"/>
                    </a:lnTo>
                    <a:cubicBezTo>
                      <a:pt x="1390871" y="0"/>
                      <a:pt x="1409191" y="7588"/>
                      <a:pt x="1422699" y="21096"/>
                    </a:cubicBezTo>
                    <a:cubicBezTo>
                      <a:pt x="1436206" y="34603"/>
                      <a:pt x="1443795" y="52923"/>
                      <a:pt x="1443795" y="72026"/>
                    </a:cubicBezTo>
                    <a:lnTo>
                      <a:pt x="1443795" y="206532"/>
                    </a:lnTo>
                    <a:cubicBezTo>
                      <a:pt x="1443795" y="246310"/>
                      <a:pt x="1411548" y="278557"/>
                      <a:pt x="1371769" y="278557"/>
                    </a:cubicBezTo>
                    <a:lnTo>
                      <a:pt x="72026" y="278557"/>
                    </a:lnTo>
                    <a:cubicBezTo>
                      <a:pt x="52923" y="278557"/>
                      <a:pt x="34603" y="270969"/>
                      <a:pt x="21096" y="257462"/>
                    </a:cubicBezTo>
                    <a:cubicBezTo>
                      <a:pt x="7588" y="243954"/>
                      <a:pt x="0" y="225634"/>
                      <a:pt x="0" y="206532"/>
                    </a:cubicBezTo>
                    <a:lnTo>
                      <a:pt x="0" y="72026"/>
                    </a:lnTo>
                    <a:cubicBezTo>
                      <a:pt x="0" y="52923"/>
                      <a:pt x="7588" y="34603"/>
                      <a:pt x="21096" y="21096"/>
                    </a:cubicBezTo>
                    <a:cubicBezTo>
                      <a:pt x="34603" y="7588"/>
                      <a:pt x="52923" y="0"/>
                      <a:pt x="7202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3D4B32"/>
                </a:solidFill>
                <a:prstDash val="solid"/>
                <a:round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443795" cy="3166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0" y="186271"/>
              <a:ext cx="2235992" cy="1188617"/>
              <a:chOff x="0" y="0"/>
              <a:chExt cx="897792" cy="477251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97792" cy="477251"/>
              </a:xfrm>
              <a:custGeom>
                <a:avLst/>
                <a:gdLst/>
                <a:ahLst/>
                <a:cxnLst/>
                <a:rect r="r" b="b" t="t" l="l"/>
                <a:pathLst>
                  <a:path h="477251" w="897792">
                    <a:moveTo>
                      <a:pt x="694592" y="0"/>
                    </a:moveTo>
                    <a:cubicBezTo>
                      <a:pt x="806816" y="0"/>
                      <a:pt x="897792" y="106836"/>
                      <a:pt x="897792" y="238626"/>
                    </a:cubicBezTo>
                    <a:cubicBezTo>
                      <a:pt x="897792" y="370415"/>
                      <a:pt x="806816" y="477251"/>
                      <a:pt x="694592" y="477251"/>
                    </a:cubicBezTo>
                    <a:lnTo>
                      <a:pt x="203200" y="477251"/>
                    </a:lnTo>
                    <a:cubicBezTo>
                      <a:pt x="90976" y="477251"/>
                      <a:pt x="0" y="370415"/>
                      <a:pt x="0" y="238626"/>
                    </a:cubicBezTo>
                    <a:cubicBezTo>
                      <a:pt x="0" y="10683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3D4B32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897792" cy="51535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781486" y="444070"/>
              <a:ext cx="673020" cy="673020"/>
              <a:chOff x="0" y="0"/>
              <a:chExt cx="812800" cy="8128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25" id="25"/>
          <p:cNvSpPr txBox="true"/>
          <p:nvPr/>
        </p:nvSpPr>
        <p:spPr>
          <a:xfrm rot="0">
            <a:off x="2381710" y="645511"/>
            <a:ext cx="4466285" cy="29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59"/>
              </a:lnSpc>
            </a:pPr>
            <a:r>
              <a:rPr lang="en-US" sz="5542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Introduction</a:t>
            </a:r>
          </a:p>
          <a:p>
            <a:pPr algn="l">
              <a:lnSpc>
                <a:spcPts val="7759"/>
              </a:lnSpc>
            </a:pPr>
          </a:p>
          <a:p>
            <a:pPr algn="l">
              <a:lnSpc>
                <a:spcPts val="7759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1252070" y="2213983"/>
            <a:ext cx="10965883" cy="3290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05"/>
              </a:lnSpc>
            </a:pPr>
            <a:r>
              <a:rPr lang="en-US" sz="3146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R</a:t>
            </a:r>
            <a:r>
              <a:rPr lang="en-US" sz="3146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ecommendation systems are widely used in online platforms to suggest products, movies, books, and music based on user preferences.</a:t>
            </a:r>
          </a:p>
          <a:p>
            <a:pPr algn="just">
              <a:lnSpc>
                <a:spcPts val="4405"/>
              </a:lnSpc>
            </a:pPr>
            <a:r>
              <a:rPr lang="en-US" sz="3146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This project uses Machine Learning to recommend similar movies using a content-based filtering approach.</a:t>
            </a:r>
          </a:p>
          <a:p>
            <a:pPr algn="just">
              <a:lnSpc>
                <a:spcPts val="4405"/>
              </a:lnSpc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1252070" y="5802087"/>
            <a:ext cx="12602483" cy="3290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05"/>
              </a:lnSpc>
            </a:pPr>
            <a:r>
              <a:rPr lang="en-US" sz="3146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Objective</a:t>
            </a:r>
          </a:p>
          <a:p>
            <a:pPr algn="just" marL="679417" indent="-339708" lvl="1">
              <a:lnSpc>
                <a:spcPts val="4405"/>
              </a:lnSpc>
              <a:buFont typeface="Arial"/>
              <a:buChar char="•"/>
            </a:pPr>
            <a:r>
              <a:rPr lang="en-US" sz="3146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R</a:t>
            </a:r>
            <a:r>
              <a:rPr lang="en-US" sz="3146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ecommend similar movies.</a:t>
            </a:r>
          </a:p>
          <a:p>
            <a:pPr algn="just" marL="679417" indent="-339708" lvl="1">
              <a:lnSpc>
                <a:spcPts val="4405"/>
              </a:lnSpc>
              <a:buFont typeface="Arial"/>
              <a:buChar char="•"/>
            </a:pPr>
            <a:r>
              <a:rPr lang="en-US" sz="3146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Learn recommendation syst</a:t>
            </a:r>
            <a:r>
              <a:rPr lang="en-US" sz="3146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em concepts.</a:t>
            </a:r>
          </a:p>
          <a:p>
            <a:pPr algn="just" marL="679417" indent="-339708" lvl="1">
              <a:lnSpc>
                <a:spcPts val="4405"/>
              </a:lnSpc>
              <a:buFont typeface="Arial"/>
              <a:buChar char="•"/>
            </a:pPr>
            <a:r>
              <a:rPr lang="en-US" sz="3146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Implement content-based filtering using Machine Learning</a:t>
            </a:r>
          </a:p>
          <a:p>
            <a:pPr algn="just">
              <a:lnSpc>
                <a:spcPts val="4405"/>
              </a:lnSpc>
            </a:pPr>
          </a:p>
          <a:p>
            <a:pPr algn="just">
              <a:lnSpc>
                <a:spcPts val="4405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17118"/>
            <a:ext cx="8757808" cy="10504118"/>
          </a:xfrm>
          <a:custGeom>
            <a:avLst/>
            <a:gdLst/>
            <a:ahLst/>
            <a:cxnLst/>
            <a:rect r="r" b="b" t="t" l="l"/>
            <a:pathLst>
              <a:path h="10504118" w="8757808">
                <a:moveTo>
                  <a:pt x="0" y="0"/>
                </a:moveTo>
                <a:lnTo>
                  <a:pt x="8757808" y="0"/>
                </a:lnTo>
                <a:lnTo>
                  <a:pt x="8757808" y="10504118"/>
                </a:lnTo>
                <a:lnTo>
                  <a:pt x="0" y="105041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155678" y="-217118"/>
            <a:ext cx="10132322" cy="12152710"/>
          </a:xfrm>
          <a:custGeom>
            <a:avLst/>
            <a:gdLst/>
            <a:ahLst/>
            <a:cxnLst/>
            <a:rect r="r" b="b" t="t" l="l"/>
            <a:pathLst>
              <a:path h="12152710" w="10132322">
                <a:moveTo>
                  <a:pt x="0" y="0"/>
                </a:moveTo>
                <a:lnTo>
                  <a:pt x="10132322" y="0"/>
                </a:lnTo>
                <a:lnTo>
                  <a:pt x="10132322" y="12152710"/>
                </a:lnTo>
                <a:lnTo>
                  <a:pt x="0" y="121527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83567" y="9559863"/>
            <a:ext cx="18571567" cy="951793"/>
          </a:xfrm>
          <a:custGeom>
            <a:avLst/>
            <a:gdLst/>
            <a:ahLst/>
            <a:cxnLst/>
            <a:rect r="r" b="b" t="t" l="l"/>
            <a:pathLst>
              <a:path h="951793" w="18571567">
                <a:moveTo>
                  <a:pt x="0" y="0"/>
                </a:moveTo>
                <a:lnTo>
                  <a:pt x="18571567" y="0"/>
                </a:lnTo>
                <a:lnTo>
                  <a:pt x="18571567" y="951793"/>
                </a:lnTo>
                <a:lnTo>
                  <a:pt x="0" y="9517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-141784" y="-217118"/>
            <a:ext cx="18571567" cy="951793"/>
          </a:xfrm>
          <a:custGeom>
            <a:avLst/>
            <a:gdLst/>
            <a:ahLst/>
            <a:cxnLst/>
            <a:rect r="r" b="b" t="t" l="l"/>
            <a:pathLst>
              <a:path h="951793" w="18571567">
                <a:moveTo>
                  <a:pt x="0" y="951793"/>
                </a:moveTo>
                <a:lnTo>
                  <a:pt x="18571568" y="951793"/>
                </a:lnTo>
                <a:lnTo>
                  <a:pt x="18571568" y="0"/>
                </a:lnTo>
                <a:lnTo>
                  <a:pt x="0" y="0"/>
                </a:lnTo>
                <a:lnTo>
                  <a:pt x="0" y="951793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13050" y="9191629"/>
            <a:ext cx="850656" cy="85065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D4B3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450394" y="9198154"/>
            <a:ext cx="837606" cy="837606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D4B3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437344" y="315872"/>
            <a:ext cx="850656" cy="850656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D4B3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12278" y="1285855"/>
            <a:ext cx="10977497" cy="1170869"/>
            <a:chOff x="0" y="0"/>
            <a:chExt cx="14636663" cy="1561159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1457443" y="0"/>
              <a:ext cx="13179219" cy="1561159"/>
              <a:chOff x="0" y="0"/>
              <a:chExt cx="2351566" cy="278557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2351566" cy="278557"/>
              </a:xfrm>
              <a:custGeom>
                <a:avLst/>
                <a:gdLst/>
                <a:ahLst/>
                <a:cxnLst/>
                <a:rect r="r" b="b" t="t" l="l"/>
                <a:pathLst>
                  <a:path h="278557" w="2351566">
                    <a:moveTo>
                      <a:pt x="44222" y="0"/>
                    </a:moveTo>
                    <a:lnTo>
                      <a:pt x="2307344" y="0"/>
                    </a:lnTo>
                    <a:cubicBezTo>
                      <a:pt x="2331767" y="0"/>
                      <a:pt x="2351566" y="19799"/>
                      <a:pt x="2351566" y="44222"/>
                    </a:cubicBezTo>
                    <a:lnTo>
                      <a:pt x="2351566" y="234336"/>
                    </a:lnTo>
                    <a:cubicBezTo>
                      <a:pt x="2351566" y="246064"/>
                      <a:pt x="2346907" y="257312"/>
                      <a:pt x="2338613" y="265605"/>
                    </a:cubicBezTo>
                    <a:cubicBezTo>
                      <a:pt x="2330320" y="273898"/>
                      <a:pt x="2319072" y="278557"/>
                      <a:pt x="2307344" y="278557"/>
                    </a:cubicBezTo>
                    <a:lnTo>
                      <a:pt x="44222" y="278557"/>
                    </a:lnTo>
                    <a:cubicBezTo>
                      <a:pt x="32493" y="278557"/>
                      <a:pt x="21245" y="273898"/>
                      <a:pt x="12952" y="265605"/>
                    </a:cubicBezTo>
                    <a:cubicBezTo>
                      <a:pt x="4659" y="257312"/>
                      <a:pt x="0" y="246064"/>
                      <a:pt x="0" y="234336"/>
                    </a:cubicBezTo>
                    <a:lnTo>
                      <a:pt x="0" y="44222"/>
                    </a:lnTo>
                    <a:cubicBezTo>
                      <a:pt x="0" y="32493"/>
                      <a:pt x="4659" y="21245"/>
                      <a:pt x="12952" y="12952"/>
                    </a:cubicBezTo>
                    <a:cubicBezTo>
                      <a:pt x="21245" y="4659"/>
                      <a:pt x="32493" y="0"/>
                      <a:pt x="442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3D4B32"/>
                </a:solidFill>
                <a:prstDash val="solid"/>
                <a:round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2351566" cy="3166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0" y="186271"/>
              <a:ext cx="3641849" cy="1188617"/>
              <a:chOff x="0" y="0"/>
              <a:chExt cx="1462269" cy="477251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462269" cy="477251"/>
              </a:xfrm>
              <a:custGeom>
                <a:avLst/>
                <a:gdLst/>
                <a:ahLst/>
                <a:cxnLst/>
                <a:rect r="r" b="b" t="t" l="l"/>
                <a:pathLst>
                  <a:path h="477251" w="1462269">
                    <a:moveTo>
                      <a:pt x="1259069" y="0"/>
                    </a:moveTo>
                    <a:cubicBezTo>
                      <a:pt x="1371294" y="0"/>
                      <a:pt x="1462269" y="106836"/>
                      <a:pt x="1462269" y="238626"/>
                    </a:cubicBezTo>
                    <a:cubicBezTo>
                      <a:pt x="1462269" y="370415"/>
                      <a:pt x="1371294" y="477251"/>
                      <a:pt x="1259069" y="477251"/>
                    </a:cubicBezTo>
                    <a:lnTo>
                      <a:pt x="203200" y="477251"/>
                    </a:lnTo>
                    <a:cubicBezTo>
                      <a:pt x="90976" y="477251"/>
                      <a:pt x="0" y="370415"/>
                      <a:pt x="0" y="238626"/>
                    </a:cubicBezTo>
                    <a:cubicBezTo>
                      <a:pt x="0" y="10683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3D4B32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1462269" cy="51535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1272838" y="444070"/>
              <a:ext cx="1096174" cy="673020"/>
              <a:chOff x="0" y="0"/>
              <a:chExt cx="1323840" cy="8128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32384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323840">
                    <a:moveTo>
                      <a:pt x="661920" y="0"/>
                    </a:moveTo>
                    <a:cubicBezTo>
                      <a:pt x="296352" y="0"/>
                      <a:pt x="0" y="181951"/>
                      <a:pt x="0" y="406400"/>
                    </a:cubicBezTo>
                    <a:cubicBezTo>
                      <a:pt x="0" y="630849"/>
                      <a:pt x="296352" y="812800"/>
                      <a:pt x="661920" y="812800"/>
                    </a:cubicBezTo>
                    <a:cubicBezTo>
                      <a:pt x="1027488" y="812800"/>
                      <a:pt x="1323840" y="630849"/>
                      <a:pt x="1323840" y="406400"/>
                    </a:cubicBezTo>
                    <a:cubicBezTo>
                      <a:pt x="1323840" y="181951"/>
                      <a:pt x="1027488" y="0"/>
                      <a:pt x="66192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124110" y="38100"/>
                <a:ext cx="107562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25" id="25"/>
          <p:cNvSpPr txBox="true"/>
          <p:nvPr/>
        </p:nvSpPr>
        <p:spPr>
          <a:xfrm rot="0">
            <a:off x="3416602" y="1359798"/>
            <a:ext cx="6779359" cy="927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65"/>
              </a:lnSpc>
            </a:pPr>
            <a:r>
              <a:rPr lang="en-US" sz="5475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Technologies Used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514372" y="2784873"/>
            <a:ext cx="8126028" cy="7123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99721" indent="-399860" lvl="1">
              <a:lnSpc>
                <a:spcPts val="5185"/>
              </a:lnSpc>
              <a:buFont typeface="Arial"/>
              <a:buChar char="•"/>
            </a:pPr>
            <a:r>
              <a:rPr lang="en-US" sz="3704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Pyth</a:t>
            </a:r>
            <a:r>
              <a:rPr lang="en-US" sz="3704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on</a:t>
            </a:r>
          </a:p>
          <a:p>
            <a:pPr algn="just" marL="799721" indent="-399860" lvl="1">
              <a:lnSpc>
                <a:spcPts val="5185"/>
              </a:lnSpc>
              <a:buFont typeface="Arial"/>
              <a:buChar char="•"/>
            </a:pPr>
            <a:r>
              <a:rPr lang="en-US" sz="3704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Google Colab</a:t>
            </a:r>
          </a:p>
          <a:p>
            <a:pPr algn="just" marL="799721" indent="-399860" lvl="1">
              <a:lnSpc>
                <a:spcPts val="5185"/>
              </a:lnSpc>
              <a:buFont typeface="Arial"/>
              <a:buChar char="•"/>
            </a:pPr>
            <a:r>
              <a:rPr lang="en-US" sz="3704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Pandas</a:t>
            </a:r>
          </a:p>
          <a:p>
            <a:pPr algn="just" marL="799721" indent="-399860" lvl="1">
              <a:lnSpc>
                <a:spcPts val="5185"/>
              </a:lnSpc>
              <a:buFont typeface="Arial"/>
              <a:buChar char="•"/>
            </a:pPr>
            <a:r>
              <a:rPr lang="en-US" sz="3704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Scikit-learn</a:t>
            </a:r>
          </a:p>
          <a:p>
            <a:pPr algn="just" marL="799721" indent="-399860" lvl="1">
              <a:lnSpc>
                <a:spcPts val="5185"/>
              </a:lnSpc>
              <a:buFont typeface="Arial"/>
              <a:buChar char="•"/>
            </a:pPr>
            <a:r>
              <a:rPr lang="en-US" sz="3704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CSV File</a:t>
            </a:r>
          </a:p>
          <a:p>
            <a:pPr algn="just" marL="799721" indent="-399860" lvl="1">
              <a:lnSpc>
                <a:spcPts val="5185"/>
              </a:lnSpc>
              <a:buFont typeface="Arial"/>
              <a:buChar char="•"/>
            </a:pPr>
            <a:r>
              <a:rPr lang="en-US" sz="3704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CountVectorizer</a:t>
            </a:r>
          </a:p>
          <a:p>
            <a:pPr algn="just" marL="799721" indent="-399860" lvl="1">
              <a:lnSpc>
                <a:spcPts val="5185"/>
              </a:lnSpc>
              <a:buFont typeface="Arial"/>
              <a:buChar char="•"/>
            </a:pPr>
            <a:r>
              <a:rPr lang="en-US" sz="3704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Cosine Similarity</a:t>
            </a:r>
          </a:p>
          <a:p>
            <a:pPr algn="just">
              <a:lnSpc>
                <a:spcPts val="5185"/>
              </a:lnSpc>
            </a:pPr>
          </a:p>
          <a:p>
            <a:pPr algn="just">
              <a:lnSpc>
                <a:spcPts val="5185"/>
              </a:lnSpc>
            </a:pPr>
            <a:r>
              <a:rPr lang="en-US" sz="3704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Machine Learning Technique</a:t>
            </a:r>
          </a:p>
          <a:p>
            <a:pPr algn="just" marL="799721" indent="-399860" lvl="1">
              <a:lnSpc>
                <a:spcPts val="5185"/>
              </a:lnSpc>
              <a:buFont typeface="Arial"/>
              <a:buChar char="•"/>
            </a:pPr>
            <a:r>
              <a:rPr lang="en-US" sz="3704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Co</a:t>
            </a:r>
            <a:r>
              <a:rPr lang="en-US" sz="3704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ntent-Based Filtering</a:t>
            </a:r>
          </a:p>
          <a:p>
            <a:pPr algn="just">
              <a:lnSpc>
                <a:spcPts val="5185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17118"/>
            <a:ext cx="8757808" cy="10504118"/>
          </a:xfrm>
          <a:custGeom>
            <a:avLst/>
            <a:gdLst/>
            <a:ahLst/>
            <a:cxnLst/>
            <a:rect r="r" b="b" t="t" l="l"/>
            <a:pathLst>
              <a:path h="10504118" w="8757808">
                <a:moveTo>
                  <a:pt x="0" y="0"/>
                </a:moveTo>
                <a:lnTo>
                  <a:pt x="8757808" y="0"/>
                </a:lnTo>
                <a:lnTo>
                  <a:pt x="8757808" y="10504118"/>
                </a:lnTo>
                <a:lnTo>
                  <a:pt x="0" y="105041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155678" y="-217118"/>
            <a:ext cx="10132322" cy="12152710"/>
          </a:xfrm>
          <a:custGeom>
            <a:avLst/>
            <a:gdLst/>
            <a:ahLst/>
            <a:cxnLst/>
            <a:rect r="r" b="b" t="t" l="l"/>
            <a:pathLst>
              <a:path h="12152710" w="10132322">
                <a:moveTo>
                  <a:pt x="0" y="0"/>
                </a:moveTo>
                <a:lnTo>
                  <a:pt x="10132322" y="0"/>
                </a:lnTo>
                <a:lnTo>
                  <a:pt x="10132322" y="12152710"/>
                </a:lnTo>
                <a:lnTo>
                  <a:pt x="0" y="121527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83567" y="9559863"/>
            <a:ext cx="18571567" cy="951793"/>
          </a:xfrm>
          <a:custGeom>
            <a:avLst/>
            <a:gdLst/>
            <a:ahLst/>
            <a:cxnLst/>
            <a:rect r="r" b="b" t="t" l="l"/>
            <a:pathLst>
              <a:path h="951793" w="18571567">
                <a:moveTo>
                  <a:pt x="0" y="0"/>
                </a:moveTo>
                <a:lnTo>
                  <a:pt x="18571567" y="0"/>
                </a:lnTo>
                <a:lnTo>
                  <a:pt x="18571567" y="951793"/>
                </a:lnTo>
                <a:lnTo>
                  <a:pt x="0" y="9517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-141784" y="-217118"/>
            <a:ext cx="18571567" cy="951793"/>
          </a:xfrm>
          <a:custGeom>
            <a:avLst/>
            <a:gdLst/>
            <a:ahLst/>
            <a:cxnLst/>
            <a:rect r="r" b="b" t="t" l="l"/>
            <a:pathLst>
              <a:path h="951793" w="18571567">
                <a:moveTo>
                  <a:pt x="0" y="951793"/>
                </a:moveTo>
                <a:lnTo>
                  <a:pt x="18571568" y="951793"/>
                </a:lnTo>
                <a:lnTo>
                  <a:pt x="18571568" y="0"/>
                </a:lnTo>
                <a:lnTo>
                  <a:pt x="0" y="0"/>
                </a:lnTo>
                <a:lnTo>
                  <a:pt x="0" y="951793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13050" y="9191629"/>
            <a:ext cx="850656" cy="85065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D4B3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450394" y="9198154"/>
            <a:ext cx="837606" cy="837606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D4B3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437344" y="315872"/>
            <a:ext cx="850656" cy="850656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D4B3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36995" y="1385515"/>
            <a:ext cx="8565222" cy="1170869"/>
            <a:chOff x="0" y="0"/>
            <a:chExt cx="11420295" cy="1561159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1137174" y="0"/>
              <a:ext cx="10283121" cy="1561159"/>
              <a:chOff x="0" y="0"/>
              <a:chExt cx="1834815" cy="278557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834815" cy="278557"/>
              </a:xfrm>
              <a:custGeom>
                <a:avLst/>
                <a:gdLst/>
                <a:ahLst/>
                <a:cxnLst/>
                <a:rect r="r" b="b" t="t" l="l"/>
                <a:pathLst>
                  <a:path h="278557" w="1834815">
                    <a:moveTo>
                      <a:pt x="56676" y="0"/>
                    </a:moveTo>
                    <a:lnTo>
                      <a:pt x="1778139" y="0"/>
                    </a:lnTo>
                    <a:cubicBezTo>
                      <a:pt x="1809441" y="0"/>
                      <a:pt x="1834815" y="25375"/>
                      <a:pt x="1834815" y="56676"/>
                    </a:cubicBezTo>
                    <a:lnTo>
                      <a:pt x="1834815" y="221881"/>
                    </a:lnTo>
                    <a:cubicBezTo>
                      <a:pt x="1834815" y="253183"/>
                      <a:pt x="1809441" y="278557"/>
                      <a:pt x="1778139" y="278557"/>
                    </a:cubicBezTo>
                    <a:lnTo>
                      <a:pt x="56676" y="278557"/>
                    </a:lnTo>
                    <a:cubicBezTo>
                      <a:pt x="25375" y="278557"/>
                      <a:pt x="0" y="253183"/>
                      <a:pt x="0" y="221881"/>
                    </a:cubicBezTo>
                    <a:lnTo>
                      <a:pt x="0" y="56676"/>
                    </a:lnTo>
                    <a:cubicBezTo>
                      <a:pt x="0" y="25375"/>
                      <a:pt x="25375" y="0"/>
                      <a:pt x="5667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3D4B32"/>
                </a:solidFill>
                <a:prstDash val="solid"/>
                <a:round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834815" cy="3166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0" y="186271"/>
              <a:ext cx="2841563" cy="1188617"/>
              <a:chOff x="0" y="0"/>
              <a:chExt cx="1140940" cy="477251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140940" cy="477251"/>
              </a:xfrm>
              <a:custGeom>
                <a:avLst/>
                <a:gdLst/>
                <a:ahLst/>
                <a:cxnLst/>
                <a:rect r="r" b="b" t="t" l="l"/>
                <a:pathLst>
                  <a:path h="477251" w="1140940">
                    <a:moveTo>
                      <a:pt x="937740" y="0"/>
                    </a:moveTo>
                    <a:cubicBezTo>
                      <a:pt x="1049964" y="0"/>
                      <a:pt x="1140940" y="106836"/>
                      <a:pt x="1140940" y="238626"/>
                    </a:cubicBezTo>
                    <a:cubicBezTo>
                      <a:pt x="1140940" y="370415"/>
                      <a:pt x="1049964" y="477251"/>
                      <a:pt x="937740" y="477251"/>
                    </a:cubicBezTo>
                    <a:lnTo>
                      <a:pt x="203200" y="477251"/>
                    </a:lnTo>
                    <a:cubicBezTo>
                      <a:pt x="90976" y="477251"/>
                      <a:pt x="0" y="370415"/>
                      <a:pt x="0" y="238626"/>
                    </a:cubicBezTo>
                    <a:cubicBezTo>
                      <a:pt x="0" y="10683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3D4B32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1140940" cy="51535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993135" y="444070"/>
              <a:ext cx="855293" cy="673020"/>
              <a:chOff x="0" y="0"/>
              <a:chExt cx="1032929" cy="8128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032929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032929">
                    <a:moveTo>
                      <a:pt x="516465" y="0"/>
                    </a:moveTo>
                    <a:cubicBezTo>
                      <a:pt x="231229" y="0"/>
                      <a:pt x="0" y="181951"/>
                      <a:pt x="0" y="406400"/>
                    </a:cubicBezTo>
                    <a:cubicBezTo>
                      <a:pt x="0" y="630849"/>
                      <a:pt x="231229" y="812800"/>
                      <a:pt x="516465" y="812800"/>
                    </a:cubicBezTo>
                    <a:cubicBezTo>
                      <a:pt x="801700" y="812800"/>
                      <a:pt x="1032929" y="630849"/>
                      <a:pt x="1032929" y="406400"/>
                    </a:cubicBezTo>
                    <a:cubicBezTo>
                      <a:pt x="1032929" y="181951"/>
                      <a:pt x="801700" y="0"/>
                      <a:pt x="516465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96837" y="38100"/>
                <a:ext cx="839255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25" id="25"/>
          <p:cNvSpPr txBox="true"/>
          <p:nvPr/>
        </p:nvSpPr>
        <p:spPr>
          <a:xfrm rot="0">
            <a:off x="2627527" y="1459458"/>
            <a:ext cx="6516473" cy="927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65"/>
              </a:lnSpc>
            </a:pPr>
            <a:r>
              <a:rPr lang="en-US" sz="5475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Project Features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580941" y="3137410"/>
            <a:ext cx="13907620" cy="4664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25119" indent="-412559" lvl="1">
              <a:lnSpc>
                <a:spcPts val="5350"/>
              </a:lnSpc>
              <a:buFont typeface="Arial"/>
              <a:buChar char="•"/>
            </a:pPr>
            <a:r>
              <a:rPr lang="en-US" sz="3821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Us</a:t>
            </a:r>
            <a:r>
              <a:rPr lang="en-US" sz="3821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er Preference Input</a:t>
            </a:r>
          </a:p>
          <a:p>
            <a:pPr algn="just" marL="825119" indent="-412559" lvl="1">
              <a:lnSpc>
                <a:spcPts val="5350"/>
              </a:lnSpc>
              <a:buFont typeface="Arial"/>
              <a:buChar char="•"/>
            </a:pPr>
            <a:r>
              <a:rPr lang="en-US" sz="3821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Personalized Movie Recommendations</a:t>
            </a:r>
          </a:p>
          <a:p>
            <a:pPr algn="just" marL="825119" indent="-412559" lvl="1">
              <a:lnSpc>
                <a:spcPts val="5350"/>
              </a:lnSpc>
              <a:buFont typeface="Arial"/>
              <a:buChar char="•"/>
            </a:pPr>
            <a:r>
              <a:rPr lang="en-US" sz="3821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Content-Based Filtering</a:t>
            </a:r>
          </a:p>
          <a:p>
            <a:pPr algn="just" marL="825119" indent="-412559" lvl="1">
              <a:lnSpc>
                <a:spcPts val="5350"/>
              </a:lnSpc>
              <a:buFont typeface="Arial"/>
              <a:buChar char="•"/>
            </a:pPr>
            <a:r>
              <a:rPr lang="en-US" sz="3821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Cosine Similarity Scoring</a:t>
            </a:r>
          </a:p>
          <a:p>
            <a:pPr algn="just" marL="825119" indent="-412559" lvl="1">
              <a:lnSpc>
                <a:spcPts val="5350"/>
              </a:lnSpc>
              <a:buFont typeface="Arial"/>
              <a:buChar char="•"/>
            </a:pPr>
            <a:r>
              <a:rPr lang="en-US" sz="3821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CSV File Handling</a:t>
            </a:r>
          </a:p>
          <a:p>
            <a:pPr algn="just" marL="825119" indent="-412559" lvl="1">
              <a:lnSpc>
                <a:spcPts val="5350"/>
              </a:lnSpc>
              <a:buFont typeface="Arial"/>
              <a:buChar char="•"/>
            </a:pPr>
            <a:r>
              <a:rPr lang="en-US" sz="3821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Fast Recommendation Generation</a:t>
            </a:r>
          </a:p>
          <a:p>
            <a:pPr algn="just">
              <a:lnSpc>
                <a:spcPts val="535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17118"/>
            <a:ext cx="8757808" cy="10504118"/>
          </a:xfrm>
          <a:custGeom>
            <a:avLst/>
            <a:gdLst/>
            <a:ahLst/>
            <a:cxnLst/>
            <a:rect r="r" b="b" t="t" l="l"/>
            <a:pathLst>
              <a:path h="10504118" w="8757808">
                <a:moveTo>
                  <a:pt x="0" y="0"/>
                </a:moveTo>
                <a:lnTo>
                  <a:pt x="8757808" y="0"/>
                </a:lnTo>
                <a:lnTo>
                  <a:pt x="8757808" y="10504118"/>
                </a:lnTo>
                <a:lnTo>
                  <a:pt x="0" y="105041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155678" y="-217118"/>
            <a:ext cx="10132322" cy="12152710"/>
          </a:xfrm>
          <a:custGeom>
            <a:avLst/>
            <a:gdLst/>
            <a:ahLst/>
            <a:cxnLst/>
            <a:rect r="r" b="b" t="t" l="l"/>
            <a:pathLst>
              <a:path h="12152710" w="10132322">
                <a:moveTo>
                  <a:pt x="0" y="0"/>
                </a:moveTo>
                <a:lnTo>
                  <a:pt x="10132322" y="0"/>
                </a:lnTo>
                <a:lnTo>
                  <a:pt x="10132322" y="12152710"/>
                </a:lnTo>
                <a:lnTo>
                  <a:pt x="0" y="121527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83567" y="9559863"/>
            <a:ext cx="18571567" cy="951793"/>
          </a:xfrm>
          <a:custGeom>
            <a:avLst/>
            <a:gdLst/>
            <a:ahLst/>
            <a:cxnLst/>
            <a:rect r="r" b="b" t="t" l="l"/>
            <a:pathLst>
              <a:path h="951793" w="18571567">
                <a:moveTo>
                  <a:pt x="0" y="0"/>
                </a:moveTo>
                <a:lnTo>
                  <a:pt x="18571567" y="0"/>
                </a:lnTo>
                <a:lnTo>
                  <a:pt x="18571567" y="951793"/>
                </a:lnTo>
                <a:lnTo>
                  <a:pt x="0" y="9517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-141784" y="-217118"/>
            <a:ext cx="18571567" cy="951793"/>
          </a:xfrm>
          <a:custGeom>
            <a:avLst/>
            <a:gdLst/>
            <a:ahLst/>
            <a:cxnLst/>
            <a:rect r="r" b="b" t="t" l="l"/>
            <a:pathLst>
              <a:path h="951793" w="18571567">
                <a:moveTo>
                  <a:pt x="0" y="951793"/>
                </a:moveTo>
                <a:lnTo>
                  <a:pt x="18571568" y="951793"/>
                </a:lnTo>
                <a:lnTo>
                  <a:pt x="18571568" y="0"/>
                </a:lnTo>
                <a:lnTo>
                  <a:pt x="0" y="0"/>
                </a:lnTo>
                <a:lnTo>
                  <a:pt x="0" y="951793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13050" y="9191629"/>
            <a:ext cx="850656" cy="85065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D4B3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450394" y="9198154"/>
            <a:ext cx="837606" cy="837606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D4B3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437344" y="315872"/>
            <a:ext cx="850656" cy="850656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D4B3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41570" y="734675"/>
            <a:ext cx="12029597" cy="1170869"/>
            <a:chOff x="0" y="0"/>
            <a:chExt cx="16039463" cy="1561159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1597127" y="0"/>
              <a:ext cx="14442336" cy="1561159"/>
              <a:chOff x="0" y="0"/>
              <a:chExt cx="2576943" cy="278557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2576943" cy="278557"/>
              </a:xfrm>
              <a:custGeom>
                <a:avLst/>
                <a:gdLst/>
                <a:ahLst/>
                <a:cxnLst/>
                <a:rect r="r" b="b" t="t" l="l"/>
                <a:pathLst>
                  <a:path h="278557" w="2576943">
                    <a:moveTo>
                      <a:pt x="40354" y="0"/>
                    </a:moveTo>
                    <a:lnTo>
                      <a:pt x="2536589" y="0"/>
                    </a:lnTo>
                    <a:cubicBezTo>
                      <a:pt x="2547292" y="0"/>
                      <a:pt x="2557556" y="4252"/>
                      <a:pt x="2565124" y="11819"/>
                    </a:cubicBezTo>
                    <a:cubicBezTo>
                      <a:pt x="2572692" y="19387"/>
                      <a:pt x="2576943" y="29652"/>
                      <a:pt x="2576943" y="40354"/>
                    </a:cubicBezTo>
                    <a:lnTo>
                      <a:pt x="2576943" y="238203"/>
                    </a:lnTo>
                    <a:cubicBezTo>
                      <a:pt x="2576943" y="260490"/>
                      <a:pt x="2558876" y="278557"/>
                      <a:pt x="2536589" y="278557"/>
                    </a:cubicBezTo>
                    <a:lnTo>
                      <a:pt x="40354" y="278557"/>
                    </a:lnTo>
                    <a:cubicBezTo>
                      <a:pt x="29652" y="278557"/>
                      <a:pt x="19387" y="274306"/>
                      <a:pt x="11819" y="266738"/>
                    </a:cubicBezTo>
                    <a:cubicBezTo>
                      <a:pt x="4252" y="259170"/>
                      <a:pt x="0" y="248906"/>
                      <a:pt x="0" y="238203"/>
                    </a:cubicBezTo>
                    <a:lnTo>
                      <a:pt x="0" y="40354"/>
                    </a:lnTo>
                    <a:cubicBezTo>
                      <a:pt x="0" y="18067"/>
                      <a:pt x="18067" y="0"/>
                      <a:pt x="4035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3D4B32"/>
                </a:solidFill>
                <a:prstDash val="solid"/>
                <a:round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2576943" cy="3166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0" y="186271"/>
              <a:ext cx="3990890" cy="1188617"/>
              <a:chOff x="0" y="0"/>
              <a:chExt cx="1602415" cy="477251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602415" cy="477251"/>
              </a:xfrm>
              <a:custGeom>
                <a:avLst/>
                <a:gdLst/>
                <a:ahLst/>
                <a:cxnLst/>
                <a:rect r="r" b="b" t="t" l="l"/>
                <a:pathLst>
                  <a:path h="477251" w="1602415">
                    <a:moveTo>
                      <a:pt x="1399215" y="0"/>
                    </a:moveTo>
                    <a:cubicBezTo>
                      <a:pt x="1511440" y="0"/>
                      <a:pt x="1602415" y="106836"/>
                      <a:pt x="1602415" y="238626"/>
                    </a:cubicBezTo>
                    <a:cubicBezTo>
                      <a:pt x="1602415" y="370415"/>
                      <a:pt x="1511440" y="477251"/>
                      <a:pt x="1399215" y="477251"/>
                    </a:cubicBezTo>
                    <a:lnTo>
                      <a:pt x="203200" y="477251"/>
                    </a:lnTo>
                    <a:cubicBezTo>
                      <a:pt x="90976" y="477251"/>
                      <a:pt x="0" y="370415"/>
                      <a:pt x="0" y="238626"/>
                    </a:cubicBezTo>
                    <a:cubicBezTo>
                      <a:pt x="0" y="10683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3D4B32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1602415" cy="51535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1394828" y="444070"/>
              <a:ext cx="1201233" cy="673020"/>
              <a:chOff x="0" y="0"/>
              <a:chExt cx="1450718" cy="8128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450718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450718">
                    <a:moveTo>
                      <a:pt x="725359" y="0"/>
                    </a:moveTo>
                    <a:cubicBezTo>
                      <a:pt x="324754" y="0"/>
                      <a:pt x="0" y="181951"/>
                      <a:pt x="0" y="406400"/>
                    </a:cubicBezTo>
                    <a:cubicBezTo>
                      <a:pt x="0" y="630849"/>
                      <a:pt x="324754" y="812800"/>
                      <a:pt x="725359" y="812800"/>
                    </a:cubicBezTo>
                    <a:cubicBezTo>
                      <a:pt x="1125964" y="812800"/>
                      <a:pt x="1450718" y="630849"/>
                      <a:pt x="1450718" y="406400"/>
                    </a:cubicBezTo>
                    <a:cubicBezTo>
                      <a:pt x="1450718" y="181951"/>
                      <a:pt x="1125964" y="0"/>
                      <a:pt x="725359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136005" y="38100"/>
                <a:ext cx="1178709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25" id="25"/>
          <p:cNvSpPr txBox="true"/>
          <p:nvPr/>
        </p:nvSpPr>
        <p:spPr>
          <a:xfrm rot="0">
            <a:off x="3823723" y="808618"/>
            <a:ext cx="8240748" cy="927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65"/>
              </a:lnSpc>
            </a:pPr>
            <a:r>
              <a:rPr lang="en-US" sz="5475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Working of the Project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98111" y="2078945"/>
            <a:ext cx="15941581" cy="7751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43"/>
              </a:lnSpc>
            </a:pPr>
            <a:r>
              <a:rPr lang="en-US" sz="4602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Pr</a:t>
            </a:r>
            <a:r>
              <a:rPr lang="en-US" sz="4602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oject Workflow</a:t>
            </a:r>
          </a:p>
          <a:p>
            <a:pPr algn="ctr">
              <a:lnSpc>
                <a:spcPts val="5323"/>
              </a:lnSpc>
            </a:pPr>
          </a:p>
          <a:p>
            <a:pPr algn="ctr">
              <a:lnSpc>
                <a:spcPts val="5323"/>
              </a:lnSpc>
            </a:pPr>
            <a:r>
              <a:rPr lang="en-US" sz="3802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Movi</a:t>
            </a:r>
            <a:r>
              <a:rPr lang="en-US" sz="3802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e Dataset</a:t>
            </a:r>
          </a:p>
          <a:p>
            <a:pPr algn="ctr">
              <a:lnSpc>
                <a:spcPts val="5323"/>
              </a:lnSpc>
            </a:pPr>
            <a:r>
              <a:rPr lang="en-US" sz="3802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⬇</a:t>
            </a:r>
          </a:p>
          <a:p>
            <a:pPr algn="ctr">
              <a:lnSpc>
                <a:spcPts val="5323"/>
              </a:lnSpc>
            </a:pPr>
            <a:r>
              <a:rPr lang="en-US" sz="3802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Conver</a:t>
            </a:r>
            <a:r>
              <a:rPr lang="en-US" sz="3802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t Genres into Numerical Features (CountVectorizer)</a:t>
            </a:r>
          </a:p>
          <a:p>
            <a:pPr algn="ctr">
              <a:lnSpc>
                <a:spcPts val="5323"/>
              </a:lnSpc>
            </a:pPr>
            <a:r>
              <a:rPr lang="en-US" sz="3802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⬇</a:t>
            </a:r>
          </a:p>
          <a:p>
            <a:pPr algn="ctr">
              <a:lnSpc>
                <a:spcPts val="5323"/>
              </a:lnSpc>
            </a:pPr>
            <a:r>
              <a:rPr lang="en-US" sz="3802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C</a:t>
            </a:r>
            <a:r>
              <a:rPr lang="en-US" sz="3802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alculate</a:t>
            </a:r>
            <a:r>
              <a:rPr lang="en-US" sz="3802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 </a:t>
            </a:r>
            <a:r>
              <a:rPr lang="en-US" sz="3802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Similarity (Cosine Similarity)</a:t>
            </a:r>
          </a:p>
          <a:p>
            <a:pPr algn="ctr">
              <a:lnSpc>
                <a:spcPts val="5323"/>
              </a:lnSpc>
            </a:pPr>
            <a:r>
              <a:rPr lang="en-US" sz="3802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⬇</a:t>
            </a:r>
          </a:p>
          <a:p>
            <a:pPr algn="ctr">
              <a:lnSpc>
                <a:spcPts val="5323"/>
              </a:lnSpc>
            </a:pPr>
            <a:r>
              <a:rPr lang="en-US" sz="3802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Us</a:t>
            </a:r>
            <a:r>
              <a:rPr lang="en-US" sz="3802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er Enters Movie Name</a:t>
            </a:r>
          </a:p>
          <a:p>
            <a:pPr algn="ctr">
              <a:lnSpc>
                <a:spcPts val="5323"/>
              </a:lnSpc>
            </a:pPr>
            <a:r>
              <a:rPr lang="en-US" sz="3802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⬇</a:t>
            </a:r>
          </a:p>
          <a:p>
            <a:pPr algn="ctr">
              <a:lnSpc>
                <a:spcPts val="5323"/>
              </a:lnSpc>
            </a:pPr>
            <a:r>
              <a:rPr lang="en-US" sz="3802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R</a:t>
            </a:r>
            <a:r>
              <a:rPr lang="en-US" sz="3802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ecommend Similar Movies</a:t>
            </a:r>
          </a:p>
          <a:p>
            <a:pPr algn="ctr">
              <a:lnSpc>
                <a:spcPts val="2133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17118"/>
            <a:ext cx="8757808" cy="10504118"/>
          </a:xfrm>
          <a:custGeom>
            <a:avLst/>
            <a:gdLst/>
            <a:ahLst/>
            <a:cxnLst/>
            <a:rect r="r" b="b" t="t" l="l"/>
            <a:pathLst>
              <a:path h="10504118" w="8757808">
                <a:moveTo>
                  <a:pt x="0" y="0"/>
                </a:moveTo>
                <a:lnTo>
                  <a:pt x="8757808" y="0"/>
                </a:lnTo>
                <a:lnTo>
                  <a:pt x="8757808" y="10504118"/>
                </a:lnTo>
                <a:lnTo>
                  <a:pt x="0" y="105041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155678" y="-217118"/>
            <a:ext cx="10132322" cy="12152710"/>
          </a:xfrm>
          <a:custGeom>
            <a:avLst/>
            <a:gdLst/>
            <a:ahLst/>
            <a:cxnLst/>
            <a:rect r="r" b="b" t="t" l="l"/>
            <a:pathLst>
              <a:path h="12152710" w="10132322">
                <a:moveTo>
                  <a:pt x="0" y="0"/>
                </a:moveTo>
                <a:lnTo>
                  <a:pt x="10132322" y="0"/>
                </a:lnTo>
                <a:lnTo>
                  <a:pt x="10132322" y="12152710"/>
                </a:lnTo>
                <a:lnTo>
                  <a:pt x="0" y="121527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83567" y="9559863"/>
            <a:ext cx="18571567" cy="951793"/>
          </a:xfrm>
          <a:custGeom>
            <a:avLst/>
            <a:gdLst/>
            <a:ahLst/>
            <a:cxnLst/>
            <a:rect r="r" b="b" t="t" l="l"/>
            <a:pathLst>
              <a:path h="951793" w="18571567">
                <a:moveTo>
                  <a:pt x="0" y="0"/>
                </a:moveTo>
                <a:lnTo>
                  <a:pt x="18571567" y="0"/>
                </a:lnTo>
                <a:lnTo>
                  <a:pt x="18571567" y="951793"/>
                </a:lnTo>
                <a:lnTo>
                  <a:pt x="0" y="9517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-141784" y="-217118"/>
            <a:ext cx="18571567" cy="951793"/>
          </a:xfrm>
          <a:custGeom>
            <a:avLst/>
            <a:gdLst/>
            <a:ahLst/>
            <a:cxnLst/>
            <a:rect r="r" b="b" t="t" l="l"/>
            <a:pathLst>
              <a:path h="951793" w="18571567">
                <a:moveTo>
                  <a:pt x="0" y="951793"/>
                </a:moveTo>
                <a:lnTo>
                  <a:pt x="18571568" y="951793"/>
                </a:lnTo>
                <a:lnTo>
                  <a:pt x="18571568" y="0"/>
                </a:lnTo>
                <a:lnTo>
                  <a:pt x="0" y="0"/>
                </a:lnTo>
                <a:lnTo>
                  <a:pt x="0" y="951793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68083" y="3164988"/>
            <a:ext cx="15208888" cy="6394875"/>
            <a:chOff x="0" y="0"/>
            <a:chExt cx="4005633" cy="168424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05633" cy="1684247"/>
            </a:xfrm>
            <a:custGeom>
              <a:avLst/>
              <a:gdLst/>
              <a:ahLst/>
              <a:cxnLst/>
              <a:rect r="r" b="b" t="t" l="l"/>
              <a:pathLst>
                <a:path h="1684247" w="4005633">
                  <a:moveTo>
                    <a:pt x="25961" y="0"/>
                  </a:moveTo>
                  <a:lnTo>
                    <a:pt x="3979672" y="0"/>
                  </a:lnTo>
                  <a:cubicBezTo>
                    <a:pt x="3994010" y="0"/>
                    <a:pt x="4005633" y="11623"/>
                    <a:pt x="4005633" y="25961"/>
                  </a:cubicBezTo>
                  <a:lnTo>
                    <a:pt x="4005633" y="1658286"/>
                  </a:lnTo>
                  <a:cubicBezTo>
                    <a:pt x="4005633" y="1665171"/>
                    <a:pt x="4002898" y="1671774"/>
                    <a:pt x="3998029" y="1676643"/>
                  </a:cubicBezTo>
                  <a:cubicBezTo>
                    <a:pt x="3993161" y="1681512"/>
                    <a:pt x="3986557" y="1684247"/>
                    <a:pt x="3979672" y="1684247"/>
                  </a:cubicBezTo>
                  <a:lnTo>
                    <a:pt x="25961" y="1684247"/>
                  </a:lnTo>
                  <a:cubicBezTo>
                    <a:pt x="19076" y="1684247"/>
                    <a:pt x="12472" y="1681512"/>
                    <a:pt x="7604" y="1676643"/>
                  </a:cubicBezTo>
                  <a:cubicBezTo>
                    <a:pt x="2735" y="1671774"/>
                    <a:pt x="0" y="1665171"/>
                    <a:pt x="0" y="1658286"/>
                  </a:cubicBezTo>
                  <a:lnTo>
                    <a:pt x="0" y="25961"/>
                  </a:lnTo>
                  <a:cubicBezTo>
                    <a:pt x="0" y="19076"/>
                    <a:pt x="2735" y="12472"/>
                    <a:pt x="7604" y="7604"/>
                  </a:cubicBezTo>
                  <a:cubicBezTo>
                    <a:pt x="12472" y="2735"/>
                    <a:pt x="19076" y="0"/>
                    <a:pt x="25961" y="0"/>
                  </a:cubicBezTo>
                  <a:close/>
                </a:path>
              </a:pathLst>
            </a:custGeom>
            <a:solidFill>
              <a:srgbClr val="F7FEFF"/>
            </a:solidFill>
            <a:ln w="38100" cap="rnd">
              <a:solidFill>
                <a:srgbClr val="3D4B32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005633" cy="17223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270843" y="7720570"/>
            <a:ext cx="2391498" cy="805259"/>
            <a:chOff x="0" y="0"/>
            <a:chExt cx="1417365" cy="47725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17365" cy="477251"/>
            </a:xfrm>
            <a:custGeom>
              <a:avLst/>
              <a:gdLst/>
              <a:ahLst/>
              <a:cxnLst/>
              <a:rect r="r" b="b" t="t" l="l"/>
              <a:pathLst>
                <a:path h="477251" w="1417365">
                  <a:moveTo>
                    <a:pt x="1214165" y="0"/>
                  </a:moveTo>
                  <a:cubicBezTo>
                    <a:pt x="1326389" y="0"/>
                    <a:pt x="1417365" y="106836"/>
                    <a:pt x="1417365" y="238626"/>
                  </a:cubicBezTo>
                  <a:cubicBezTo>
                    <a:pt x="1417365" y="370415"/>
                    <a:pt x="1326389" y="477251"/>
                    <a:pt x="1214165" y="477251"/>
                  </a:cubicBezTo>
                  <a:lnTo>
                    <a:pt x="203200" y="477251"/>
                  </a:lnTo>
                  <a:cubicBezTo>
                    <a:pt x="90976" y="477251"/>
                    <a:pt x="0" y="370415"/>
                    <a:pt x="0" y="238626"/>
                  </a:cubicBezTo>
                  <a:cubicBezTo>
                    <a:pt x="0" y="10683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D4B3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417365" cy="5153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211760" y="7006657"/>
            <a:ext cx="245786" cy="245786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4542089" y="7006657"/>
            <a:ext cx="245786" cy="245786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4872419" y="7006657"/>
            <a:ext cx="245786" cy="245786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5202749" y="7006657"/>
            <a:ext cx="245786" cy="245786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5533078" y="7006657"/>
            <a:ext cx="245786" cy="245786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5863408" y="7006657"/>
            <a:ext cx="245786" cy="245786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5929431" y="3164988"/>
            <a:ext cx="850656" cy="850656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D4B32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0375514" y="3806094"/>
            <a:ext cx="4496905" cy="380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25"/>
              </a:lnSpc>
            </a:pPr>
            <a:r>
              <a:rPr lang="en-US" sz="10875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THANK </a:t>
            </a:r>
          </a:p>
          <a:p>
            <a:pPr algn="ctr">
              <a:lnSpc>
                <a:spcPts val="15225"/>
              </a:lnSpc>
            </a:pPr>
            <a:r>
              <a:rPr lang="en-US" sz="10875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YOU 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028700" y="6401787"/>
            <a:ext cx="850656" cy="850656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D4B32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551026" y="3308860"/>
            <a:ext cx="7592974" cy="6211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7016" indent="-383508" lvl="1">
              <a:lnSpc>
                <a:spcPts val="4973"/>
              </a:lnSpc>
              <a:buFont typeface="Arial"/>
              <a:buChar char="•"/>
            </a:pPr>
            <a:r>
              <a:rPr lang="en-US" sz="3552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Successfully developed a Smart Recommendation System.</a:t>
            </a:r>
          </a:p>
          <a:p>
            <a:pPr algn="l" marL="767016" indent="-383508" lvl="1">
              <a:lnSpc>
                <a:spcPts val="4973"/>
              </a:lnSpc>
              <a:buFont typeface="Arial"/>
              <a:buChar char="•"/>
            </a:pPr>
            <a:r>
              <a:rPr lang="en-US" sz="3552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Implement</a:t>
            </a:r>
            <a:r>
              <a:rPr lang="en-US" sz="3552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ed content-based filtering using Machine Learning.</a:t>
            </a:r>
          </a:p>
          <a:p>
            <a:pPr algn="l" marL="767016" indent="-383508" lvl="1">
              <a:lnSpc>
                <a:spcPts val="4973"/>
              </a:lnSpc>
              <a:buFont typeface="Arial"/>
              <a:buChar char="•"/>
            </a:pPr>
            <a:r>
              <a:rPr lang="en-US" sz="3552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G</a:t>
            </a:r>
            <a:r>
              <a:rPr lang="en-US" sz="3552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enerated personalized movie recommendations.</a:t>
            </a:r>
          </a:p>
          <a:p>
            <a:pPr algn="l" marL="767016" indent="-383508" lvl="1">
              <a:lnSpc>
                <a:spcPts val="4973"/>
              </a:lnSpc>
              <a:buFont typeface="Arial"/>
              <a:buChar char="•"/>
            </a:pPr>
            <a:r>
              <a:rPr lang="en-US" sz="3552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The project can be extended with larger datasets and hybrid recommendation techniques.</a:t>
            </a:r>
          </a:p>
          <a:p>
            <a:pPr algn="l">
              <a:lnSpc>
                <a:spcPts val="4973"/>
              </a:lnSpc>
            </a:pPr>
          </a:p>
        </p:txBody>
      </p:sp>
      <p:grpSp>
        <p:nvGrpSpPr>
          <p:cNvPr name="Group 38" id="38"/>
          <p:cNvGrpSpPr/>
          <p:nvPr/>
        </p:nvGrpSpPr>
        <p:grpSpPr>
          <a:xfrm rot="0">
            <a:off x="436995" y="1385515"/>
            <a:ext cx="12029597" cy="1170869"/>
            <a:chOff x="0" y="0"/>
            <a:chExt cx="16039463" cy="1561159"/>
          </a:xfrm>
        </p:grpSpPr>
        <p:grpSp>
          <p:nvGrpSpPr>
            <p:cNvPr name="Group 39" id="39"/>
            <p:cNvGrpSpPr/>
            <p:nvPr/>
          </p:nvGrpSpPr>
          <p:grpSpPr>
            <a:xfrm rot="0">
              <a:off x="1597127" y="0"/>
              <a:ext cx="14442336" cy="1561159"/>
              <a:chOff x="0" y="0"/>
              <a:chExt cx="2576943" cy="278557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2576943" cy="278557"/>
              </a:xfrm>
              <a:custGeom>
                <a:avLst/>
                <a:gdLst/>
                <a:ahLst/>
                <a:cxnLst/>
                <a:rect r="r" b="b" t="t" l="l"/>
                <a:pathLst>
                  <a:path h="278557" w="2576943">
                    <a:moveTo>
                      <a:pt x="40354" y="0"/>
                    </a:moveTo>
                    <a:lnTo>
                      <a:pt x="2536589" y="0"/>
                    </a:lnTo>
                    <a:cubicBezTo>
                      <a:pt x="2547292" y="0"/>
                      <a:pt x="2557556" y="4252"/>
                      <a:pt x="2565124" y="11819"/>
                    </a:cubicBezTo>
                    <a:cubicBezTo>
                      <a:pt x="2572692" y="19387"/>
                      <a:pt x="2576943" y="29652"/>
                      <a:pt x="2576943" y="40354"/>
                    </a:cubicBezTo>
                    <a:lnTo>
                      <a:pt x="2576943" y="238203"/>
                    </a:lnTo>
                    <a:cubicBezTo>
                      <a:pt x="2576943" y="260490"/>
                      <a:pt x="2558876" y="278557"/>
                      <a:pt x="2536589" y="278557"/>
                    </a:cubicBezTo>
                    <a:lnTo>
                      <a:pt x="40354" y="278557"/>
                    </a:lnTo>
                    <a:cubicBezTo>
                      <a:pt x="29652" y="278557"/>
                      <a:pt x="19387" y="274306"/>
                      <a:pt x="11819" y="266738"/>
                    </a:cubicBezTo>
                    <a:cubicBezTo>
                      <a:pt x="4252" y="259170"/>
                      <a:pt x="0" y="248906"/>
                      <a:pt x="0" y="238203"/>
                    </a:cubicBezTo>
                    <a:lnTo>
                      <a:pt x="0" y="40354"/>
                    </a:lnTo>
                    <a:cubicBezTo>
                      <a:pt x="0" y="18067"/>
                      <a:pt x="18067" y="0"/>
                      <a:pt x="4035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3D4B32"/>
                </a:solidFill>
                <a:prstDash val="solid"/>
                <a:round/>
              </a:ln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38100"/>
                <a:ext cx="2576943" cy="3166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2" id="42"/>
            <p:cNvGrpSpPr/>
            <p:nvPr/>
          </p:nvGrpSpPr>
          <p:grpSpPr>
            <a:xfrm rot="0">
              <a:off x="0" y="186271"/>
              <a:ext cx="3990890" cy="1188617"/>
              <a:chOff x="0" y="0"/>
              <a:chExt cx="1602415" cy="477251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1602415" cy="477251"/>
              </a:xfrm>
              <a:custGeom>
                <a:avLst/>
                <a:gdLst/>
                <a:ahLst/>
                <a:cxnLst/>
                <a:rect r="r" b="b" t="t" l="l"/>
                <a:pathLst>
                  <a:path h="477251" w="1602415">
                    <a:moveTo>
                      <a:pt x="1399215" y="0"/>
                    </a:moveTo>
                    <a:cubicBezTo>
                      <a:pt x="1511440" y="0"/>
                      <a:pt x="1602415" y="106836"/>
                      <a:pt x="1602415" y="238626"/>
                    </a:cubicBezTo>
                    <a:cubicBezTo>
                      <a:pt x="1602415" y="370415"/>
                      <a:pt x="1511440" y="477251"/>
                      <a:pt x="1399215" y="477251"/>
                    </a:cubicBezTo>
                    <a:lnTo>
                      <a:pt x="203200" y="477251"/>
                    </a:lnTo>
                    <a:cubicBezTo>
                      <a:pt x="90976" y="477251"/>
                      <a:pt x="0" y="370415"/>
                      <a:pt x="0" y="238626"/>
                    </a:cubicBezTo>
                    <a:cubicBezTo>
                      <a:pt x="0" y="10683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3D4B32"/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-38100"/>
                <a:ext cx="1602415" cy="51535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5" id="45"/>
            <p:cNvGrpSpPr/>
            <p:nvPr/>
          </p:nvGrpSpPr>
          <p:grpSpPr>
            <a:xfrm rot="0">
              <a:off x="1394828" y="444070"/>
              <a:ext cx="1201233" cy="673020"/>
              <a:chOff x="0" y="0"/>
              <a:chExt cx="1450718" cy="812800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1450718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450718">
                    <a:moveTo>
                      <a:pt x="725359" y="0"/>
                    </a:moveTo>
                    <a:cubicBezTo>
                      <a:pt x="324754" y="0"/>
                      <a:pt x="0" y="181951"/>
                      <a:pt x="0" y="406400"/>
                    </a:cubicBezTo>
                    <a:cubicBezTo>
                      <a:pt x="0" y="630849"/>
                      <a:pt x="324754" y="812800"/>
                      <a:pt x="725359" y="812800"/>
                    </a:cubicBezTo>
                    <a:cubicBezTo>
                      <a:pt x="1125964" y="812800"/>
                      <a:pt x="1450718" y="630849"/>
                      <a:pt x="1450718" y="406400"/>
                    </a:cubicBezTo>
                    <a:cubicBezTo>
                      <a:pt x="1450718" y="181951"/>
                      <a:pt x="1125964" y="0"/>
                      <a:pt x="725359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136005" y="38100"/>
                <a:ext cx="1178709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48" id="48"/>
          <p:cNvSpPr txBox="true"/>
          <p:nvPr/>
        </p:nvSpPr>
        <p:spPr>
          <a:xfrm rot="0">
            <a:off x="3794498" y="1459458"/>
            <a:ext cx="8240748" cy="927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65"/>
              </a:lnSpc>
            </a:pPr>
            <a:r>
              <a:rPr lang="en-US" sz="5475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Conclusion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DAHObLflZYQ</dc:identifier>
  <dcterms:modified xsi:type="dcterms:W3CDTF">2011-08-01T06:04:30Z</dcterms:modified>
  <cp:revision>1</cp:revision>
  <dc:title>PROJECT 3</dc:title>
</cp:coreProperties>
</file>