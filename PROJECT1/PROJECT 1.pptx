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ammersmith One" charset="1" panose="02010703030501060504"/>
      <p:regular r:id="rId12"/>
    </p:embeddedFont>
    <p:embeddedFont>
      <p:font typeface="Arima Madurai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61795" y="3164988"/>
            <a:ext cx="11615176" cy="3964562"/>
            <a:chOff x="0" y="0"/>
            <a:chExt cx="3059141" cy="1044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59141" cy="1044164"/>
            </a:xfrm>
            <a:custGeom>
              <a:avLst/>
              <a:gdLst/>
              <a:ahLst/>
              <a:cxnLst/>
              <a:rect r="r" b="b" t="t" l="l"/>
              <a:pathLst>
                <a:path h="1044164" w="3059141">
                  <a:moveTo>
                    <a:pt x="33993" y="0"/>
                  </a:moveTo>
                  <a:lnTo>
                    <a:pt x="3025148" y="0"/>
                  </a:lnTo>
                  <a:cubicBezTo>
                    <a:pt x="3043922" y="0"/>
                    <a:pt x="3059141" y="15219"/>
                    <a:pt x="3059141" y="33993"/>
                  </a:cubicBezTo>
                  <a:lnTo>
                    <a:pt x="3059141" y="1010171"/>
                  </a:lnTo>
                  <a:cubicBezTo>
                    <a:pt x="3059141" y="1028945"/>
                    <a:pt x="3043922" y="1044164"/>
                    <a:pt x="3025148" y="1044164"/>
                  </a:cubicBezTo>
                  <a:lnTo>
                    <a:pt x="33993" y="1044164"/>
                  </a:lnTo>
                  <a:cubicBezTo>
                    <a:pt x="15219" y="1044164"/>
                    <a:pt x="0" y="1028945"/>
                    <a:pt x="0" y="1010171"/>
                  </a:cubicBezTo>
                  <a:lnTo>
                    <a:pt x="0" y="33993"/>
                  </a:lnTo>
                  <a:cubicBezTo>
                    <a:pt x="0" y="15219"/>
                    <a:pt x="15219" y="0"/>
                    <a:pt x="33993" y="0"/>
                  </a:cubicBezTo>
                  <a:close/>
                </a:path>
              </a:pathLst>
            </a:custGeom>
            <a:solidFill>
              <a:srgbClr val="F7FEFF"/>
            </a:solidFill>
            <a:ln w="38100" cap="rnd">
              <a:solidFill>
                <a:srgbClr val="11767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59141" cy="1082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82317" y="1503742"/>
            <a:ext cx="7148107" cy="7148107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24572" t="0" r="-2457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963261" y="6726920"/>
            <a:ext cx="2391498" cy="805259"/>
            <a:chOff x="0" y="0"/>
            <a:chExt cx="1417365" cy="4772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7365" cy="477251"/>
            </a:xfrm>
            <a:custGeom>
              <a:avLst/>
              <a:gdLst/>
              <a:ahLst/>
              <a:cxnLst/>
              <a:rect r="r" b="b" t="t" l="l"/>
              <a:pathLst>
                <a:path h="477251" w="1417365">
                  <a:moveTo>
                    <a:pt x="1214165" y="0"/>
                  </a:moveTo>
                  <a:cubicBezTo>
                    <a:pt x="1326389" y="0"/>
                    <a:pt x="1417365" y="106836"/>
                    <a:pt x="1417365" y="238626"/>
                  </a:cubicBezTo>
                  <a:cubicBezTo>
                    <a:pt x="1417365" y="370415"/>
                    <a:pt x="1326389" y="477251"/>
                    <a:pt x="1214165" y="477251"/>
                  </a:cubicBezTo>
                  <a:lnTo>
                    <a:pt x="203200" y="477251"/>
                  </a:lnTo>
                  <a:cubicBezTo>
                    <a:pt x="90976" y="477251"/>
                    <a:pt x="0" y="370415"/>
                    <a:pt x="0" y="238626"/>
                  </a:cubicBezTo>
                  <a:cubicBezTo>
                    <a:pt x="0" y="10683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17365" cy="51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11760" y="7006657"/>
            <a:ext cx="245786" cy="2457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542089" y="7006657"/>
            <a:ext cx="245786" cy="24578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72419" y="7006657"/>
            <a:ext cx="245786" cy="2457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02749" y="7006657"/>
            <a:ext cx="245786" cy="24578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33078" y="7006657"/>
            <a:ext cx="245786" cy="24578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863408" y="7006657"/>
            <a:ext cx="245786" cy="24578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62072" y="6681523"/>
            <a:ext cx="850656" cy="85065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828025" y="3514116"/>
            <a:ext cx="8158276" cy="1419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11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UTILITY USAGE PREDICTION TOOL</a:t>
            </a:r>
          </a:p>
          <a:p>
            <a:pPr algn="l">
              <a:lnSpc>
                <a:spcPts val="5760"/>
              </a:lnSpc>
            </a:pPr>
            <a:r>
              <a:rPr lang="en-US" sz="411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AI/ML INTERNSHIP PROJECT 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2670" y="5154388"/>
            <a:ext cx="7786194" cy="167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6"/>
              </a:lnSpc>
            </a:pPr>
            <a:r>
              <a:rPr lang="en-US" sz="49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Submitted by:  </a:t>
            </a:r>
            <a:r>
              <a:rPr lang="en-US" sz="49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Anisha Basu</a:t>
            </a:r>
          </a:p>
          <a:p>
            <a:pPr algn="l">
              <a:lnSpc>
                <a:spcPts val="6486"/>
              </a:lnSpc>
            </a:pPr>
            <a:r>
              <a:rPr lang="en-US" sz="46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F</a:t>
            </a:r>
            <a:r>
              <a:rPr lang="en-US" sz="46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or: CODEVEDX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03372" y="2739660"/>
            <a:ext cx="850656" cy="85065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2278" y="581093"/>
            <a:ext cx="6739872" cy="1170869"/>
            <a:chOff x="0" y="0"/>
            <a:chExt cx="8986496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894829" y="0"/>
              <a:ext cx="8091667" cy="1561159"/>
              <a:chOff x="0" y="0"/>
              <a:chExt cx="1443795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43795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1443795">
                    <a:moveTo>
                      <a:pt x="72026" y="0"/>
                    </a:moveTo>
                    <a:lnTo>
                      <a:pt x="1371769" y="0"/>
                    </a:lnTo>
                    <a:cubicBezTo>
                      <a:pt x="1390871" y="0"/>
                      <a:pt x="1409191" y="7588"/>
                      <a:pt x="1422699" y="21096"/>
                    </a:cubicBezTo>
                    <a:cubicBezTo>
                      <a:pt x="1436206" y="34603"/>
                      <a:pt x="1443795" y="52923"/>
                      <a:pt x="1443795" y="72026"/>
                    </a:cubicBezTo>
                    <a:lnTo>
                      <a:pt x="1443795" y="206532"/>
                    </a:lnTo>
                    <a:cubicBezTo>
                      <a:pt x="1443795" y="246310"/>
                      <a:pt x="1411548" y="278557"/>
                      <a:pt x="1371769" y="278557"/>
                    </a:cubicBezTo>
                    <a:lnTo>
                      <a:pt x="72026" y="278557"/>
                    </a:lnTo>
                    <a:cubicBezTo>
                      <a:pt x="52923" y="278557"/>
                      <a:pt x="34603" y="270969"/>
                      <a:pt x="21096" y="257462"/>
                    </a:cubicBezTo>
                    <a:cubicBezTo>
                      <a:pt x="7588" y="243954"/>
                      <a:pt x="0" y="225634"/>
                      <a:pt x="0" y="206532"/>
                    </a:cubicBezTo>
                    <a:lnTo>
                      <a:pt x="0" y="72026"/>
                    </a:lnTo>
                    <a:cubicBezTo>
                      <a:pt x="0" y="52923"/>
                      <a:pt x="7588" y="34603"/>
                      <a:pt x="21096" y="21096"/>
                    </a:cubicBezTo>
                    <a:cubicBezTo>
                      <a:pt x="34603" y="7588"/>
                      <a:pt x="52923" y="0"/>
                      <a:pt x="720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1767E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443795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2235992" cy="1188617"/>
              <a:chOff x="0" y="0"/>
              <a:chExt cx="897792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97792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897792">
                    <a:moveTo>
                      <a:pt x="694592" y="0"/>
                    </a:moveTo>
                    <a:cubicBezTo>
                      <a:pt x="806816" y="0"/>
                      <a:pt x="897792" y="106836"/>
                      <a:pt x="897792" y="238626"/>
                    </a:cubicBezTo>
                    <a:cubicBezTo>
                      <a:pt x="897792" y="370415"/>
                      <a:pt x="806816" y="477251"/>
                      <a:pt x="694592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1767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97792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81486" y="444070"/>
              <a:ext cx="673020" cy="673020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8681459" y="848022"/>
            <a:ext cx="8768935" cy="8768935"/>
            <a:chOff x="0" y="0"/>
            <a:chExt cx="14840029" cy="148400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24572" t="0" r="-24572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381710" y="645511"/>
            <a:ext cx="4466285" cy="29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9"/>
              </a:lnSpc>
            </a:pPr>
            <a:r>
              <a:rPr lang="en-US" sz="554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Introduction</a:t>
            </a:r>
          </a:p>
          <a:p>
            <a:pPr algn="l">
              <a:lnSpc>
                <a:spcPts val="7759"/>
              </a:lnSpc>
            </a:pPr>
          </a:p>
          <a:p>
            <a:pPr algn="l">
              <a:lnSpc>
                <a:spcPts val="775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52070" y="2213983"/>
            <a:ext cx="6903608" cy="384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Ut</a:t>
            </a: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ility usage prediction helps estimate future consumption based on historical data.</a:t>
            </a:r>
          </a:p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This project uses Machine Learning to predict utility usage from previous monthly records.</a:t>
            </a:r>
          </a:p>
          <a:p>
            <a:pPr algn="just">
              <a:lnSpc>
                <a:spcPts val="4405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252070" y="5802087"/>
            <a:ext cx="6903608" cy="329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Objective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</a:t>
            </a: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ore monthly utility data.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Predict future utility usage.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Learn basic Machine Learning concepts.</a:t>
            </a:r>
          </a:p>
          <a:p>
            <a:pPr algn="just">
              <a:lnSpc>
                <a:spcPts val="440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2278" y="1285855"/>
            <a:ext cx="10977497" cy="1170869"/>
            <a:chOff x="0" y="0"/>
            <a:chExt cx="14636663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457443" y="0"/>
              <a:ext cx="13179219" cy="1561159"/>
              <a:chOff x="0" y="0"/>
              <a:chExt cx="2351566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51566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351566">
                    <a:moveTo>
                      <a:pt x="44222" y="0"/>
                    </a:moveTo>
                    <a:lnTo>
                      <a:pt x="2307344" y="0"/>
                    </a:lnTo>
                    <a:cubicBezTo>
                      <a:pt x="2331767" y="0"/>
                      <a:pt x="2351566" y="19799"/>
                      <a:pt x="2351566" y="44222"/>
                    </a:cubicBezTo>
                    <a:lnTo>
                      <a:pt x="2351566" y="234336"/>
                    </a:lnTo>
                    <a:cubicBezTo>
                      <a:pt x="2351566" y="246064"/>
                      <a:pt x="2346907" y="257312"/>
                      <a:pt x="2338613" y="265605"/>
                    </a:cubicBezTo>
                    <a:cubicBezTo>
                      <a:pt x="2330320" y="273898"/>
                      <a:pt x="2319072" y="278557"/>
                      <a:pt x="2307344" y="278557"/>
                    </a:cubicBezTo>
                    <a:lnTo>
                      <a:pt x="44222" y="278557"/>
                    </a:lnTo>
                    <a:cubicBezTo>
                      <a:pt x="32493" y="278557"/>
                      <a:pt x="21245" y="273898"/>
                      <a:pt x="12952" y="265605"/>
                    </a:cubicBezTo>
                    <a:cubicBezTo>
                      <a:pt x="4659" y="257312"/>
                      <a:pt x="0" y="246064"/>
                      <a:pt x="0" y="234336"/>
                    </a:cubicBezTo>
                    <a:lnTo>
                      <a:pt x="0" y="44222"/>
                    </a:lnTo>
                    <a:cubicBezTo>
                      <a:pt x="0" y="32493"/>
                      <a:pt x="4659" y="21245"/>
                      <a:pt x="12952" y="12952"/>
                    </a:cubicBezTo>
                    <a:cubicBezTo>
                      <a:pt x="21245" y="4659"/>
                      <a:pt x="32493" y="0"/>
                      <a:pt x="44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1767E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351566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3641849" cy="1188617"/>
              <a:chOff x="0" y="0"/>
              <a:chExt cx="1462269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62269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462269">
                    <a:moveTo>
                      <a:pt x="1259069" y="0"/>
                    </a:moveTo>
                    <a:cubicBezTo>
                      <a:pt x="1371294" y="0"/>
                      <a:pt x="1462269" y="106836"/>
                      <a:pt x="1462269" y="238626"/>
                    </a:cubicBezTo>
                    <a:cubicBezTo>
                      <a:pt x="1462269" y="370415"/>
                      <a:pt x="1371294" y="477251"/>
                      <a:pt x="1259069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1767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462269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72838" y="444070"/>
              <a:ext cx="1096174" cy="673020"/>
              <a:chOff x="0" y="0"/>
              <a:chExt cx="132384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2384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23840">
                    <a:moveTo>
                      <a:pt x="661920" y="0"/>
                    </a:moveTo>
                    <a:cubicBezTo>
                      <a:pt x="296352" y="0"/>
                      <a:pt x="0" y="181951"/>
                      <a:pt x="0" y="406400"/>
                    </a:cubicBezTo>
                    <a:cubicBezTo>
                      <a:pt x="0" y="630849"/>
                      <a:pt x="296352" y="812800"/>
                      <a:pt x="661920" y="812800"/>
                    </a:cubicBezTo>
                    <a:cubicBezTo>
                      <a:pt x="1027488" y="812800"/>
                      <a:pt x="1323840" y="630849"/>
                      <a:pt x="1323840" y="406400"/>
                    </a:cubicBezTo>
                    <a:cubicBezTo>
                      <a:pt x="1323840" y="181951"/>
                      <a:pt x="1027488" y="0"/>
                      <a:pt x="661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24110" y="38100"/>
                <a:ext cx="107562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3416602" y="1359798"/>
            <a:ext cx="6779359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Technologies Used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4372" y="2784873"/>
            <a:ext cx="8126028" cy="647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Pyth</a:t>
            </a: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on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Google Colab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Pandas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Scikit-learn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CSV File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Linear Regression</a:t>
            </a:r>
          </a:p>
          <a:p>
            <a:pPr algn="just">
              <a:lnSpc>
                <a:spcPts val="5185"/>
              </a:lnSpc>
            </a:pPr>
          </a:p>
          <a:p>
            <a:pPr algn="just">
              <a:lnSpc>
                <a:spcPts val="5185"/>
              </a:lnSpc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Machine Learning Algorithm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Linear Regression</a:t>
            </a:r>
          </a:p>
          <a:p>
            <a:pPr algn="just">
              <a:lnSpc>
                <a:spcPts val="518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6995" y="1385515"/>
            <a:ext cx="8565222" cy="1170869"/>
            <a:chOff x="0" y="0"/>
            <a:chExt cx="11420295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137174" y="0"/>
              <a:ext cx="10283121" cy="1561159"/>
              <a:chOff x="0" y="0"/>
              <a:chExt cx="1834815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34815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1834815">
                    <a:moveTo>
                      <a:pt x="56676" y="0"/>
                    </a:moveTo>
                    <a:lnTo>
                      <a:pt x="1778139" y="0"/>
                    </a:lnTo>
                    <a:cubicBezTo>
                      <a:pt x="1809441" y="0"/>
                      <a:pt x="1834815" y="25375"/>
                      <a:pt x="1834815" y="56676"/>
                    </a:cubicBezTo>
                    <a:lnTo>
                      <a:pt x="1834815" y="221881"/>
                    </a:lnTo>
                    <a:cubicBezTo>
                      <a:pt x="1834815" y="253183"/>
                      <a:pt x="1809441" y="278557"/>
                      <a:pt x="1778139" y="278557"/>
                    </a:cubicBezTo>
                    <a:lnTo>
                      <a:pt x="56676" y="278557"/>
                    </a:lnTo>
                    <a:cubicBezTo>
                      <a:pt x="25375" y="278557"/>
                      <a:pt x="0" y="253183"/>
                      <a:pt x="0" y="221881"/>
                    </a:cubicBezTo>
                    <a:lnTo>
                      <a:pt x="0" y="56676"/>
                    </a:lnTo>
                    <a:cubicBezTo>
                      <a:pt x="0" y="25375"/>
                      <a:pt x="25375" y="0"/>
                      <a:pt x="56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1767E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834815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2841563" cy="1188617"/>
              <a:chOff x="0" y="0"/>
              <a:chExt cx="1140940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40940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140940">
                    <a:moveTo>
                      <a:pt x="937740" y="0"/>
                    </a:moveTo>
                    <a:cubicBezTo>
                      <a:pt x="1049964" y="0"/>
                      <a:pt x="1140940" y="106836"/>
                      <a:pt x="1140940" y="238626"/>
                    </a:cubicBezTo>
                    <a:cubicBezTo>
                      <a:pt x="1140940" y="370415"/>
                      <a:pt x="1049964" y="477251"/>
                      <a:pt x="937740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1767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140940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93135" y="444070"/>
              <a:ext cx="855293" cy="673020"/>
              <a:chOff x="0" y="0"/>
              <a:chExt cx="1032929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3292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32929">
                    <a:moveTo>
                      <a:pt x="516465" y="0"/>
                    </a:moveTo>
                    <a:cubicBezTo>
                      <a:pt x="231229" y="0"/>
                      <a:pt x="0" y="181951"/>
                      <a:pt x="0" y="406400"/>
                    </a:cubicBezTo>
                    <a:cubicBezTo>
                      <a:pt x="0" y="630849"/>
                      <a:pt x="231229" y="812800"/>
                      <a:pt x="516465" y="812800"/>
                    </a:cubicBezTo>
                    <a:cubicBezTo>
                      <a:pt x="801700" y="812800"/>
                      <a:pt x="1032929" y="630849"/>
                      <a:pt x="1032929" y="406400"/>
                    </a:cubicBezTo>
                    <a:cubicBezTo>
                      <a:pt x="1032929" y="181951"/>
                      <a:pt x="801700" y="0"/>
                      <a:pt x="51646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96837" y="38100"/>
                <a:ext cx="839255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2627527" y="1459458"/>
            <a:ext cx="6516473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Project Features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0941" y="3137410"/>
            <a:ext cx="8384096" cy="399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</a:t>
            </a: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ew Utility Data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Add New Records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Update Existing Records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CSV File Handling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Utility Usage Prediction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Exception Handling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6995" y="1385515"/>
            <a:ext cx="12029597" cy="1170869"/>
            <a:chOff x="0" y="0"/>
            <a:chExt cx="16039463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597127" y="0"/>
              <a:ext cx="14442336" cy="1561159"/>
              <a:chOff x="0" y="0"/>
              <a:chExt cx="2576943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576943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576943">
                    <a:moveTo>
                      <a:pt x="40354" y="0"/>
                    </a:moveTo>
                    <a:lnTo>
                      <a:pt x="2536589" y="0"/>
                    </a:lnTo>
                    <a:cubicBezTo>
                      <a:pt x="2547292" y="0"/>
                      <a:pt x="2557556" y="4252"/>
                      <a:pt x="2565124" y="11819"/>
                    </a:cubicBezTo>
                    <a:cubicBezTo>
                      <a:pt x="2572692" y="19387"/>
                      <a:pt x="2576943" y="29652"/>
                      <a:pt x="2576943" y="40354"/>
                    </a:cubicBezTo>
                    <a:lnTo>
                      <a:pt x="2576943" y="238203"/>
                    </a:lnTo>
                    <a:cubicBezTo>
                      <a:pt x="2576943" y="260490"/>
                      <a:pt x="2558876" y="278557"/>
                      <a:pt x="2536589" y="278557"/>
                    </a:cubicBezTo>
                    <a:lnTo>
                      <a:pt x="40354" y="278557"/>
                    </a:lnTo>
                    <a:cubicBezTo>
                      <a:pt x="29652" y="278557"/>
                      <a:pt x="19387" y="274306"/>
                      <a:pt x="11819" y="266738"/>
                    </a:cubicBezTo>
                    <a:cubicBezTo>
                      <a:pt x="4252" y="259170"/>
                      <a:pt x="0" y="248906"/>
                      <a:pt x="0" y="238203"/>
                    </a:cubicBezTo>
                    <a:lnTo>
                      <a:pt x="0" y="40354"/>
                    </a:lnTo>
                    <a:cubicBezTo>
                      <a:pt x="0" y="18067"/>
                      <a:pt x="18067" y="0"/>
                      <a:pt x="403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1767E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576943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3990890" cy="1188617"/>
              <a:chOff x="0" y="0"/>
              <a:chExt cx="1602415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02415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602415">
                    <a:moveTo>
                      <a:pt x="1399215" y="0"/>
                    </a:moveTo>
                    <a:cubicBezTo>
                      <a:pt x="1511440" y="0"/>
                      <a:pt x="1602415" y="106836"/>
                      <a:pt x="1602415" y="238626"/>
                    </a:cubicBezTo>
                    <a:cubicBezTo>
                      <a:pt x="1602415" y="370415"/>
                      <a:pt x="1511440" y="477251"/>
                      <a:pt x="1399215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1767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602415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94828" y="444070"/>
              <a:ext cx="1201233" cy="673020"/>
              <a:chOff x="0" y="0"/>
              <a:chExt cx="1450718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45071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50718">
                    <a:moveTo>
                      <a:pt x="725359" y="0"/>
                    </a:moveTo>
                    <a:cubicBezTo>
                      <a:pt x="324754" y="0"/>
                      <a:pt x="0" y="181951"/>
                      <a:pt x="0" y="406400"/>
                    </a:cubicBezTo>
                    <a:cubicBezTo>
                      <a:pt x="0" y="630849"/>
                      <a:pt x="324754" y="812800"/>
                      <a:pt x="725359" y="812800"/>
                    </a:cubicBezTo>
                    <a:cubicBezTo>
                      <a:pt x="1125964" y="812800"/>
                      <a:pt x="1450718" y="630849"/>
                      <a:pt x="1450718" y="406400"/>
                    </a:cubicBezTo>
                    <a:cubicBezTo>
                      <a:pt x="1450718" y="181951"/>
                      <a:pt x="1125964" y="0"/>
                      <a:pt x="72535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36005" y="38100"/>
                <a:ext cx="1178709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3794498" y="1459458"/>
            <a:ext cx="8240748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Working of the 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34944" y="2748151"/>
            <a:ext cx="7831648" cy="704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7"/>
              </a:lnSpc>
            </a:pPr>
            <a:r>
              <a:rPr lang="en-US" sz="43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</a:t>
            </a:r>
            <a:r>
              <a:rPr lang="en-US" sz="43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oject Workflow</a:t>
            </a:r>
          </a:p>
          <a:p>
            <a:pPr algn="ctr">
              <a:lnSpc>
                <a:spcPts val="4997"/>
              </a:lnSpc>
            </a:pP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Historical Data</a:t>
            </a: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⬇</a:t>
            </a: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CSV Dataset</a:t>
            </a: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Train Linear Regression Model</a:t>
            </a: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User Inputs Month</a:t>
            </a: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4997"/>
              </a:lnSpc>
            </a:pPr>
            <a:r>
              <a:rPr lang="en-US" sz="356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Predict Utility Usage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68083" y="3164988"/>
            <a:ext cx="15208888" cy="6394875"/>
            <a:chOff x="0" y="0"/>
            <a:chExt cx="4005633" cy="1684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5633" cy="1684247"/>
            </a:xfrm>
            <a:custGeom>
              <a:avLst/>
              <a:gdLst/>
              <a:ahLst/>
              <a:cxnLst/>
              <a:rect r="r" b="b" t="t" l="l"/>
              <a:pathLst>
                <a:path h="1684247" w="4005633">
                  <a:moveTo>
                    <a:pt x="25961" y="0"/>
                  </a:moveTo>
                  <a:lnTo>
                    <a:pt x="3979672" y="0"/>
                  </a:lnTo>
                  <a:cubicBezTo>
                    <a:pt x="3994010" y="0"/>
                    <a:pt x="4005633" y="11623"/>
                    <a:pt x="4005633" y="25961"/>
                  </a:cubicBezTo>
                  <a:lnTo>
                    <a:pt x="4005633" y="1658286"/>
                  </a:lnTo>
                  <a:cubicBezTo>
                    <a:pt x="4005633" y="1665171"/>
                    <a:pt x="4002898" y="1671774"/>
                    <a:pt x="3998029" y="1676643"/>
                  </a:cubicBezTo>
                  <a:cubicBezTo>
                    <a:pt x="3993161" y="1681512"/>
                    <a:pt x="3986557" y="1684247"/>
                    <a:pt x="3979672" y="1684247"/>
                  </a:cubicBezTo>
                  <a:lnTo>
                    <a:pt x="25961" y="1684247"/>
                  </a:lnTo>
                  <a:cubicBezTo>
                    <a:pt x="19076" y="1684247"/>
                    <a:pt x="12472" y="1681512"/>
                    <a:pt x="7604" y="1676643"/>
                  </a:cubicBezTo>
                  <a:cubicBezTo>
                    <a:pt x="2735" y="1671774"/>
                    <a:pt x="0" y="1665171"/>
                    <a:pt x="0" y="1658286"/>
                  </a:cubicBezTo>
                  <a:lnTo>
                    <a:pt x="0" y="25961"/>
                  </a:lnTo>
                  <a:cubicBezTo>
                    <a:pt x="0" y="19076"/>
                    <a:pt x="2735" y="12472"/>
                    <a:pt x="7604" y="7604"/>
                  </a:cubicBezTo>
                  <a:cubicBezTo>
                    <a:pt x="12472" y="2735"/>
                    <a:pt x="19076" y="0"/>
                    <a:pt x="25961" y="0"/>
                  </a:cubicBezTo>
                  <a:close/>
                </a:path>
              </a:pathLst>
            </a:custGeom>
            <a:solidFill>
              <a:srgbClr val="F7FEFF"/>
            </a:solidFill>
            <a:ln w="38100" cap="rnd">
              <a:solidFill>
                <a:srgbClr val="11767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5633" cy="1722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70843" y="7720570"/>
            <a:ext cx="2391498" cy="805259"/>
            <a:chOff x="0" y="0"/>
            <a:chExt cx="1417365" cy="477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7365" cy="477251"/>
            </a:xfrm>
            <a:custGeom>
              <a:avLst/>
              <a:gdLst/>
              <a:ahLst/>
              <a:cxnLst/>
              <a:rect r="r" b="b" t="t" l="l"/>
              <a:pathLst>
                <a:path h="477251" w="1417365">
                  <a:moveTo>
                    <a:pt x="1214165" y="0"/>
                  </a:moveTo>
                  <a:cubicBezTo>
                    <a:pt x="1326389" y="0"/>
                    <a:pt x="1417365" y="106836"/>
                    <a:pt x="1417365" y="238626"/>
                  </a:cubicBezTo>
                  <a:cubicBezTo>
                    <a:pt x="1417365" y="370415"/>
                    <a:pt x="1326389" y="477251"/>
                    <a:pt x="1214165" y="477251"/>
                  </a:cubicBezTo>
                  <a:lnTo>
                    <a:pt x="203200" y="477251"/>
                  </a:lnTo>
                  <a:cubicBezTo>
                    <a:pt x="90976" y="477251"/>
                    <a:pt x="0" y="370415"/>
                    <a:pt x="0" y="238626"/>
                  </a:cubicBezTo>
                  <a:cubicBezTo>
                    <a:pt x="0" y="10683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17365" cy="51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11760" y="7006657"/>
            <a:ext cx="245786" cy="24578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42089" y="7006657"/>
            <a:ext cx="245786" cy="24578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872419" y="7006657"/>
            <a:ext cx="245786" cy="24578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202749" y="7006657"/>
            <a:ext cx="245786" cy="24578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33078" y="7006657"/>
            <a:ext cx="245786" cy="24578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63408" y="7006657"/>
            <a:ext cx="245786" cy="24578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929431" y="3164988"/>
            <a:ext cx="850656" cy="85065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375514" y="3806094"/>
            <a:ext cx="4496905" cy="380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5"/>
              </a:lnSpc>
            </a:pPr>
            <a:r>
              <a:rPr lang="en-US" sz="108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THANK </a:t>
            </a:r>
          </a:p>
          <a:p>
            <a:pPr algn="ctr">
              <a:lnSpc>
                <a:spcPts val="15225"/>
              </a:lnSpc>
            </a:pPr>
            <a:r>
              <a:rPr lang="en-US" sz="108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YOU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6401787"/>
            <a:ext cx="850656" cy="85065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1767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551026" y="3308860"/>
            <a:ext cx="7592974" cy="558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Successfully created a Utility Usage Prediction Tool.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Implemented Machine Learning using Linear Regression.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Learned CSV handling and data prediction.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project can be enhanced with larger datasets and a graphical interface.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36995" y="1385515"/>
            <a:ext cx="12029597" cy="1170869"/>
            <a:chOff x="0" y="0"/>
            <a:chExt cx="16039463" cy="1561159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1597127" y="0"/>
              <a:ext cx="14442336" cy="1561159"/>
              <a:chOff x="0" y="0"/>
              <a:chExt cx="2576943" cy="27855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576943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576943">
                    <a:moveTo>
                      <a:pt x="40354" y="0"/>
                    </a:moveTo>
                    <a:lnTo>
                      <a:pt x="2536589" y="0"/>
                    </a:lnTo>
                    <a:cubicBezTo>
                      <a:pt x="2547292" y="0"/>
                      <a:pt x="2557556" y="4252"/>
                      <a:pt x="2565124" y="11819"/>
                    </a:cubicBezTo>
                    <a:cubicBezTo>
                      <a:pt x="2572692" y="19387"/>
                      <a:pt x="2576943" y="29652"/>
                      <a:pt x="2576943" y="40354"/>
                    </a:cubicBezTo>
                    <a:lnTo>
                      <a:pt x="2576943" y="238203"/>
                    </a:lnTo>
                    <a:cubicBezTo>
                      <a:pt x="2576943" y="260490"/>
                      <a:pt x="2558876" y="278557"/>
                      <a:pt x="2536589" y="278557"/>
                    </a:cubicBezTo>
                    <a:lnTo>
                      <a:pt x="40354" y="278557"/>
                    </a:lnTo>
                    <a:cubicBezTo>
                      <a:pt x="29652" y="278557"/>
                      <a:pt x="19387" y="274306"/>
                      <a:pt x="11819" y="266738"/>
                    </a:cubicBezTo>
                    <a:cubicBezTo>
                      <a:pt x="4252" y="259170"/>
                      <a:pt x="0" y="248906"/>
                      <a:pt x="0" y="238203"/>
                    </a:cubicBezTo>
                    <a:lnTo>
                      <a:pt x="0" y="40354"/>
                    </a:lnTo>
                    <a:cubicBezTo>
                      <a:pt x="0" y="18067"/>
                      <a:pt x="18067" y="0"/>
                      <a:pt x="403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11767E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576943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186271"/>
              <a:ext cx="3990890" cy="1188617"/>
              <a:chOff x="0" y="0"/>
              <a:chExt cx="1602415" cy="47725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02415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602415">
                    <a:moveTo>
                      <a:pt x="1399215" y="0"/>
                    </a:moveTo>
                    <a:cubicBezTo>
                      <a:pt x="1511440" y="0"/>
                      <a:pt x="1602415" y="106836"/>
                      <a:pt x="1602415" y="238626"/>
                    </a:cubicBezTo>
                    <a:cubicBezTo>
                      <a:pt x="1602415" y="370415"/>
                      <a:pt x="1511440" y="477251"/>
                      <a:pt x="1399215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1767E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602415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394828" y="444070"/>
              <a:ext cx="1201233" cy="673020"/>
              <a:chOff x="0" y="0"/>
              <a:chExt cx="1450718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45071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50718">
                    <a:moveTo>
                      <a:pt x="725359" y="0"/>
                    </a:moveTo>
                    <a:cubicBezTo>
                      <a:pt x="324754" y="0"/>
                      <a:pt x="0" y="181951"/>
                      <a:pt x="0" y="406400"/>
                    </a:cubicBezTo>
                    <a:cubicBezTo>
                      <a:pt x="0" y="630849"/>
                      <a:pt x="324754" y="812800"/>
                      <a:pt x="725359" y="812800"/>
                    </a:cubicBezTo>
                    <a:cubicBezTo>
                      <a:pt x="1125964" y="812800"/>
                      <a:pt x="1450718" y="630849"/>
                      <a:pt x="1450718" y="406400"/>
                    </a:cubicBezTo>
                    <a:cubicBezTo>
                      <a:pt x="1450718" y="181951"/>
                      <a:pt x="1125964" y="0"/>
                      <a:pt x="72535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36005" y="38100"/>
                <a:ext cx="1178709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48" id="48"/>
          <p:cNvSpPr txBox="true"/>
          <p:nvPr/>
        </p:nvSpPr>
        <p:spPr>
          <a:xfrm rot="0">
            <a:off x="3794498" y="1459458"/>
            <a:ext cx="8240748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DAHObLflZYQ</dc:identifier>
  <dcterms:modified xsi:type="dcterms:W3CDTF">2011-08-01T06:04:30Z</dcterms:modified>
  <cp:revision>1</cp:revision>
  <dc:title>PROJECT 1</dc:title>
</cp:coreProperties>
</file>